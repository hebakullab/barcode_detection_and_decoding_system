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3"/>
    <p:sldMasterId id="2147483690" r:id="rId4"/>
  </p:sldMasterIdLst>
  <p:notesMasterIdLst>
    <p:notesMasterId r:id="rId6"/>
  </p:notesMasterIdLst>
  <p:sldIdLst>
    <p:sldId id="259" r:id="rId5"/>
    <p:sldId id="260" r:id="rId7"/>
    <p:sldId id="278" r:id="rId8"/>
    <p:sldId id="266" r:id="rId9"/>
    <p:sldId id="269" r:id="rId10"/>
    <p:sldId id="270" r:id="rId11"/>
    <p:sldId id="271" r:id="rId12"/>
    <p:sldId id="272" r:id="rId13"/>
    <p:sldId id="273" r:id="rId14"/>
    <p:sldId id="274" r:id="rId15"/>
    <p:sldId id="27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7253"/>
    <a:srgbClr val="BBA580"/>
    <a:srgbClr val="CFBA9B"/>
    <a:srgbClr val="847054"/>
    <a:srgbClr val="BEA67F"/>
    <a:srgbClr val="B9A17F"/>
    <a:srgbClr val="E6A2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93b433ceb_0_4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1093b433ceb_0_4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액자 12"/>
          <p:cNvSpPr/>
          <p:nvPr userDrawn="1"/>
        </p:nvSpPr>
        <p:spPr>
          <a:xfrm>
            <a:off x="547181" y="1761846"/>
            <a:ext cx="11097638" cy="3334311"/>
          </a:xfrm>
          <a:prstGeom prst="frame">
            <a:avLst>
              <a:gd name="adj1" fmla="val 241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2" name="그림 개체 틀 2"/>
          <p:cNvSpPr>
            <a:spLocks noGrp="1"/>
          </p:cNvSpPr>
          <p:nvPr>
            <p:ph type="pic" sz="quarter" idx="10" hasCustomPrompt="1"/>
          </p:nvPr>
        </p:nvSpPr>
        <p:spPr>
          <a:xfrm>
            <a:off x="910352" y="569068"/>
            <a:ext cx="3661647" cy="5719864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tIns="91440"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  <a:endParaRPr lang="en-US" altLang="ko-KR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tIns="91440" anchor="ctr"/>
          <a:lstStyle>
            <a:lvl1pPr marL="0" indent="0" algn="ctr">
              <a:buNone/>
              <a:defRPr sz="5400" b="0" baseline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  <a:endParaRPr lang="en-US" altLang="ko-KR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 2"/>
          <p:cNvSpPr/>
          <p:nvPr userDrawn="1"/>
        </p:nvSpPr>
        <p:spPr>
          <a:xfrm>
            <a:off x="642938" y="514350"/>
            <a:ext cx="10906125" cy="2990850"/>
          </a:xfrm>
          <a:prstGeom prst="frame">
            <a:avLst>
              <a:gd name="adj1" fmla="val 255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그림 개체 틀 2"/>
          <p:cNvSpPr>
            <a:spLocks noGrp="1"/>
          </p:cNvSpPr>
          <p:nvPr>
            <p:ph type="pic" sz="quarter" idx="10" hasCustomPrompt="1"/>
          </p:nvPr>
        </p:nvSpPr>
        <p:spPr>
          <a:xfrm>
            <a:off x="1096806" y="2310178"/>
            <a:ext cx="2084544" cy="2313844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5" name="그림 개체 틀 2"/>
          <p:cNvSpPr>
            <a:spLocks noGrp="1"/>
          </p:cNvSpPr>
          <p:nvPr>
            <p:ph type="pic" sz="quarter" idx="11" hasCustomPrompt="1"/>
          </p:nvPr>
        </p:nvSpPr>
        <p:spPr>
          <a:xfrm>
            <a:off x="3735231" y="2310178"/>
            <a:ext cx="2084544" cy="2313844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" name="그림 개체 틀 2"/>
          <p:cNvSpPr>
            <a:spLocks noGrp="1"/>
          </p:cNvSpPr>
          <p:nvPr>
            <p:ph type="pic" sz="quarter" idx="12" hasCustomPrompt="1"/>
          </p:nvPr>
        </p:nvSpPr>
        <p:spPr>
          <a:xfrm>
            <a:off x="6373656" y="2310178"/>
            <a:ext cx="2084544" cy="2313844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그림 개체 틀 2"/>
          <p:cNvSpPr>
            <a:spLocks noGrp="1"/>
          </p:cNvSpPr>
          <p:nvPr>
            <p:ph type="pic" sz="quarter" idx="13" hasCustomPrompt="1"/>
          </p:nvPr>
        </p:nvSpPr>
        <p:spPr>
          <a:xfrm>
            <a:off x="9012081" y="2310178"/>
            <a:ext cx="2084544" cy="2313844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6388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lIns="365760" anchor="ctr"/>
          <a:lstStyle>
            <a:lvl1pPr marL="0" indent="0" algn="l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Sand Back</a:t>
            </a:r>
            <a:endParaRPr lang="ko-KR" altLang="en-US" dirty="0"/>
          </a:p>
        </p:txBody>
      </p:sp>
      <p:sp>
        <p:nvSpPr>
          <p:cNvPr id="7" name="그림 개체 틀 2"/>
          <p:cNvSpPr>
            <a:spLocks noGrp="1"/>
          </p:cNvSpPr>
          <p:nvPr>
            <p:ph type="pic" sz="quarter" idx="11" hasCustomPrompt="1"/>
          </p:nvPr>
        </p:nvSpPr>
        <p:spPr>
          <a:xfrm>
            <a:off x="7548561" y="477308"/>
            <a:ext cx="2897717" cy="2731837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8" name="그림 개체 틀 2"/>
          <p:cNvSpPr>
            <a:spLocks noGrp="1"/>
          </p:cNvSpPr>
          <p:nvPr>
            <p:ph type="pic" sz="quarter" idx="12" hasCustomPrompt="1"/>
          </p:nvPr>
        </p:nvSpPr>
        <p:spPr>
          <a:xfrm>
            <a:off x="7548561" y="3648856"/>
            <a:ext cx="2897717" cy="2731837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238106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그림 개체 틀 2"/>
          <p:cNvSpPr>
            <a:spLocks noGrp="1"/>
          </p:cNvSpPr>
          <p:nvPr>
            <p:ph type="pic" sz="quarter" idx="10" hasCustomPrompt="1"/>
          </p:nvPr>
        </p:nvSpPr>
        <p:spPr>
          <a:xfrm>
            <a:off x="1453561" y="479835"/>
            <a:ext cx="1823793" cy="2598344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5" name="그림 개체 틀 2"/>
          <p:cNvSpPr>
            <a:spLocks noGrp="1"/>
          </p:cNvSpPr>
          <p:nvPr>
            <p:ph type="pic" sz="quarter" idx="11" hasCustomPrompt="1"/>
          </p:nvPr>
        </p:nvSpPr>
        <p:spPr>
          <a:xfrm>
            <a:off x="8067429" y="479834"/>
            <a:ext cx="3611542" cy="5898334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</a:t>
            </a:r>
            <a:endParaRPr lang="en-US" altLang="ko-KR" dirty="0"/>
          </a:p>
          <a:p>
            <a:r>
              <a:rPr lang="en-US" altLang="ko-KR" dirty="0"/>
              <a:t>And Sand Back</a:t>
            </a:r>
            <a:endParaRPr lang="ko-KR" altLang="en-US" dirty="0"/>
          </a:p>
        </p:txBody>
      </p:sp>
      <p:sp>
        <p:nvSpPr>
          <p:cNvPr id="6" name="그림 개체 틀 2"/>
          <p:cNvSpPr>
            <a:spLocks noGrp="1"/>
          </p:cNvSpPr>
          <p:nvPr>
            <p:ph type="pic" sz="quarter" idx="12" hasCustomPrompt="1"/>
          </p:nvPr>
        </p:nvSpPr>
        <p:spPr>
          <a:xfrm>
            <a:off x="3658183" y="479835"/>
            <a:ext cx="1823793" cy="2598344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그림 개체 틀 2"/>
          <p:cNvSpPr>
            <a:spLocks noGrp="1"/>
          </p:cNvSpPr>
          <p:nvPr>
            <p:ph type="pic" sz="quarter" idx="13" hasCustomPrompt="1"/>
          </p:nvPr>
        </p:nvSpPr>
        <p:spPr>
          <a:xfrm>
            <a:off x="5862805" y="479835"/>
            <a:ext cx="1823793" cy="2598344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/>
          <p:cNvSpPr>
            <a:spLocks noGrp="1"/>
          </p:cNvSpPr>
          <p:nvPr>
            <p:ph type="pic" sz="quarter" idx="10" hasCustomPrompt="1"/>
          </p:nvPr>
        </p:nvSpPr>
        <p:spPr>
          <a:xfrm>
            <a:off x="3638550" y="3543300"/>
            <a:ext cx="2743200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sand back</a:t>
            </a:r>
            <a:endParaRPr lang="ko-KR" altLang="en-US" dirty="0"/>
          </a:p>
        </p:txBody>
      </p:sp>
      <p:sp>
        <p:nvSpPr>
          <p:cNvPr id="5" name="그림 개체 틀 2"/>
          <p:cNvSpPr>
            <a:spLocks noGrp="1"/>
          </p:cNvSpPr>
          <p:nvPr>
            <p:ph type="pic" sz="quarter" idx="11" hasCustomPrompt="1"/>
          </p:nvPr>
        </p:nvSpPr>
        <p:spPr>
          <a:xfrm>
            <a:off x="3638550" y="569180"/>
            <a:ext cx="2743200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sand back</a:t>
            </a:r>
            <a:endParaRPr lang="ko-KR" altLang="en-US" dirty="0"/>
          </a:p>
        </p:txBody>
      </p:sp>
      <p:sp>
        <p:nvSpPr>
          <p:cNvPr id="6" name="그림 개체 틀 2"/>
          <p:cNvSpPr>
            <a:spLocks noGrp="1"/>
          </p:cNvSpPr>
          <p:nvPr>
            <p:ph type="pic" sz="quarter" idx="12" hasCustomPrompt="1"/>
          </p:nvPr>
        </p:nvSpPr>
        <p:spPr>
          <a:xfrm>
            <a:off x="657225" y="3543300"/>
            <a:ext cx="2743200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sand back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-1" y="0"/>
            <a:ext cx="3400425" cy="33123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lIns="3383280" rIns="0" anchor="ctr"/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Sand to Back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액자 12"/>
          <p:cNvSpPr/>
          <p:nvPr userDrawn="1"/>
        </p:nvSpPr>
        <p:spPr>
          <a:xfrm>
            <a:off x="547181" y="1761846"/>
            <a:ext cx="11097638" cy="3334311"/>
          </a:xfrm>
          <a:prstGeom prst="frame">
            <a:avLst>
              <a:gd name="adj1" fmla="val 241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2" name="그림 개체 틀 2"/>
          <p:cNvSpPr>
            <a:spLocks noGrp="1"/>
          </p:cNvSpPr>
          <p:nvPr>
            <p:ph type="pic" sz="quarter" idx="10" hasCustomPrompt="1"/>
          </p:nvPr>
        </p:nvSpPr>
        <p:spPr>
          <a:xfrm>
            <a:off x="910352" y="569068"/>
            <a:ext cx="3661647" cy="5719864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age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7515225" y="0"/>
            <a:ext cx="467677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aphic 14"/>
          <p:cNvGrpSpPr/>
          <p:nvPr userDrawn="1"/>
        </p:nvGrpSpPr>
        <p:grpSpPr>
          <a:xfrm>
            <a:off x="5720146" y="1420664"/>
            <a:ext cx="5589803" cy="4396475"/>
            <a:chOff x="2444748" y="555045"/>
            <a:chExt cx="7282048" cy="5727454"/>
          </a:xfrm>
        </p:grpSpPr>
        <p:sp>
          <p:nvSpPr>
            <p:cNvPr id="6" name="Freeform: Shape 5"/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/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7"/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/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/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/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/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/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-1" fmla="*/ 2536444 w 3976489"/>
                <a:gd name="connsiteY0-2" fmla="*/ 0 h 4238316"/>
                <a:gd name="connsiteX1-3" fmla="*/ 3976489 w 3976489"/>
                <a:gd name="connsiteY1-4" fmla="*/ 241371 h 4238316"/>
                <a:gd name="connsiteX2-5" fmla="*/ 3968307 w 3976489"/>
                <a:gd name="connsiteY2-6" fmla="*/ 4238316 h 4238316"/>
                <a:gd name="connsiteX3-7" fmla="*/ 0 w 3976489"/>
                <a:gd name="connsiteY3-8" fmla="*/ 4238316 h 4238316"/>
                <a:gd name="connsiteX0-9" fmla="*/ 2536444 w 3976489"/>
                <a:gd name="connsiteY0-10" fmla="*/ 0 h 4238316"/>
                <a:gd name="connsiteX1-11" fmla="*/ 3976489 w 3976489"/>
                <a:gd name="connsiteY1-12" fmla="*/ 213683 h 4238316"/>
                <a:gd name="connsiteX2-13" fmla="*/ 3968307 w 3976489"/>
                <a:gd name="connsiteY2-14" fmla="*/ 4238316 h 4238316"/>
                <a:gd name="connsiteX3-15" fmla="*/ 0 w 3976489"/>
                <a:gd name="connsiteY3-16" fmla="*/ 4238316 h 4238316"/>
                <a:gd name="connsiteX0-17" fmla="*/ 2473335 w 3976489"/>
                <a:gd name="connsiteY0-18" fmla="*/ 0 h 4035268"/>
                <a:gd name="connsiteX1-19" fmla="*/ 3976489 w 3976489"/>
                <a:gd name="connsiteY1-20" fmla="*/ 10635 h 4035268"/>
                <a:gd name="connsiteX2-21" fmla="*/ 3968307 w 3976489"/>
                <a:gd name="connsiteY2-22" fmla="*/ 4035268 h 4035268"/>
                <a:gd name="connsiteX3-23" fmla="*/ 0 w 3976489"/>
                <a:gd name="connsiteY3-24" fmla="*/ 4035268 h 40352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그림 개체 틀 2"/>
          <p:cNvSpPr>
            <a:spLocks noGrp="1"/>
          </p:cNvSpPr>
          <p:nvPr>
            <p:ph type="pic" sz="quarter" idx="10" hasCustomPrompt="1"/>
          </p:nvPr>
        </p:nvSpPr>
        <p:spPr>
          <a:xfrm>
            <a:off x="5856077" y="1628103"/>
            <a:ext cx="5317941" cy="3012880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771525" y="339509"/>
            <a:ext cx="6543675" cy="724247"/>
          </a:xfrm>
          <a:prstGeom prst="rect">
            <a:avLst/>
          </a:prstGeom>
        </p:spPr>
        <p:txBody>
          <a:bodyPr tIns="91440" anchor="ctr"/>
          <a:lstStyle>
            <a:lvl1pPr marL="0" indent="0" algn="l">
              <a:buNone/>
              <a:defRPr sz="5400" b="0" baseline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  <a:endParaRPr lang="en-US" altLang="ko-KR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/>
          <p:cNvSpPr/>
          <p:nvPr userDrawn="1"/>
        </p:nvSpPr>
        <p:spPr>
          <a:xfrm rot="5400000">
            <a:off x="795337" y="-795340"/>
            <a:ext cx="6257926" cy="7848605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그림 개체 틀 2"/>
          <p:cNvSpPr>
            <a:spLocks noGrp="1"/>
          </p:cNvSpPr>
          <p:nvPr>
            <p:ph type="pic" sz="quarter" idx="10" hasCustomPrompt="1"/>
          </p:nvPr>
        </p:nvSpPr>
        <p:spPr>
          <a:xfrm>
            <a:off x="640914" y="600074"/>
            <a:ext cx="4052172" cy="5657852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그림 개체 틀 2"/>
          <p:cNvSpPr>
            <a:spLocks noGrp="1"/>
          </p:cNvSpPr>
          <p:nvPr>
            <p:ph type="pic" sz="quarter" idx="11" hasCustomPrompt="1"/>
          </p:nvPr>
        </p:nvSpPr>
        <p:spPr>
          <a:xfrm>
            <a:off x="5175044" y="222886"/>
            <a:ext cx="2286000" cy="3017520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8" name="그림 개체 틀 2"/>
          <p:cNvSpPr>
            <a:spLocks noGrp="1"/>
          </p:cNvSpPr>
          <p:nvPr>
            <p:ph type="pic" sz="quarter" idx="12" hasCustomPrompt="1"/>
          </p:nvPr>
        </p:nvSpPr>
        <p:spPr>
          <a:xfrm>
            <a:off x="5175044" y="3624742"/>
            <a:ext cx="2286000" cy="3017520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자유형: 도형 52"/>
          <p:cNvSpPr/>
          <p:nvPr userDrawn="1"/>
        </p:nvSpPr>
        <p:spPr>
          <a:xfrm>
            <a:off x="2" y="0"/>
            <a:ext cx="8582025" cy="6858000"/>
          </a:xfrm>
          <a:custGeom>
            <a:avLst/>
            <a:gdLst>
              <a:gd name="connsiteX0" fmla="*/ 5238766 w 8582025"/>
              <a:gd name="connsiteY0" fmla="*/ 0 h 6858000"/>
              <a:gd name="connsiteX1" fmla="*/ 8582025 w 8582025"/>
              <a:gd name="connsiteY1" fmla="*/ 0 h 6858000"/>
              <a:gd name="connsiteX2" fmla="*/ 1876410 w 8582025"/>
              <a:gd name="connsiteY2" fmla="*/ 6858000 h 6858000"/>
              <a:gd name="connsiteX3" fmla="*/ 0 w 8582025"/>
              <a:gd name="connsiteY3" fmla="*/ 6858000 h 6858000"/>
              <a:gd name="connsiteX4" fmla="*/ 0 w 8582025"/>
              <a:gd name="connsiteY4" fmla="*/ 535781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82025" h="6858000">
                <a:moveTo>
                  <a:pt x="5238766" y="0"/>
                </a:moveTo>
                <a:lnTo>
                  <a:pt x="8582025" y="0"/>
                </a:lnTo>
                <a:lnTo>
                  <a:pt x="1876410" y="6858000"/>
                </a:lnTo>
                <a:lnTo>
                  <a:pt x="0" y="6858000"/>
                </a:lnTo>
                <a:lnTo>
                  <a:pt x="0" y="535781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" name="그림 개체 틀 3"/>
          <p:cNvSpPr>
            <a:spLocks noGrp="1"/>
          </p:cNvSpPr>
          <p:nvPr>
            <p:ph type="pic" sz="quarter" idx="10" hasCustomPrompt="1"/>
          </p:nvPr>
        </p:nvSpPr>
        <p:spPr>
          <a:xfrm>
            <a:off x="1517212" y="427698"/>
            <a:ext cx="3600000" cy="3600000"/>
          </a:xfrm>
          <a:prstGeom prst="diamond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/>
            </a:solidFill>
          </a:ln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200"/>
            </a:lvl1pPr>
          </a:lstStyle>
          <a:p>
            <a:r>
              <a:rPr lang="en-US" altLang="ko-KR" dirty="0"/>
              <a:t>Place Your Picture Here And Sand to Back</a:t>
            </a:r>
            <a:endParaRPr lang="ko-KR" altLang="en-US" dirty="0"/>
          </a:p>
        </p:txBody>
      </p:sp>
      <p:sp>
        <p:nvSpPr>
          <p:cNvPr id="6" name="그림 개체 틀 3"/>
          <p:cNvSpPr>
            <a:spLocks noGrp="1"/>
          </p:cNvSpPr>
          <p:nvPr>
            <p:ph type="pic" sz="quarter" idx="11" hasCustomPrompt="1"/>
          </p:nvPr>
        </p:nvSpPr>
        <p:spPr>
          <a:xfrm>
            <a:off x="1953610" y="2837035"/>
            <a:ext cx="3600000" cy="3600000"/>
          </a:xfrm>
          <a:prstGeom prst="diamond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/>
            </a:solidFill>
          </a:ln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2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그림 개체 틀 3"/>
          <p:cNvSpPr>
            <a:spLocks noGrp="1"/>
          </p:cNvSpPr>
          <p:nvPr>
            <p:ph type="pic" sz="quarter" idx="12" hasCustomPrompt="1"/>
          </p:nvPr>
        </p:nvSpPr>
        <p:spPr>
          <a:xfrm>
            <a:off x="4407524" y="2251417"/>
            <a:ext cx="1980000" cy="1980000"/>
          </a:xfrm>
          <a:prstGeom prst="diamond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2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그림 개체 틀 3"/>
          <p:cNvSpPr>
            <a:spLocks noGrp="1"/>
          </p:cNvSpPr>
          <p:nvPr>
            <p:ph type="pic" sz="quarter" idx="13" hasCustomPrompt="1"/>
          </p:nvPr>
        </p:nvSpPr>
        <p:spPr>
          <a:xfrm>
            <a:off x="636104" y="2676913"/>
            <a:ext cx="1980000" cy="1980000"/>
          </a:xfrm>
          <a:prstGeom prst="diamond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2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Image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/>
          <p:cNvSpPr>
            <a:spLocks noGrp="1"/>
          </p:cNvSpPr>
          <p:nvPr>
            <p:ph type="pic" sz="quarter" idx="10" hasCustomPrompt="1"/>
          </p:nvPr>
        </p:nvSpPr>
        <p:spPr>
          <a:xfrm>
            <a:off x="910353" y="1807430"/>
            <a:ext cx="2400000" cy="266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6952" y="2305190"/>
            <a:ext cx="4038095" cy="224761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Image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/>
          <p:cNvSpPr>
            <a:spLocks noGrp="1"/>
          </p:cNvSpPr>
          <p:nvPr>
            <p:ph type="pic" sz="quarter" idx="10" hasCustomPrompt="1"/>
          </p:nvPr>
        </p:nvSpPr>
        <p:spPr>
          <a:xfrm>
            <a:off x="910353" y="1807430"/>
            <a:ext cx="2400000" cy="266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381" y="2276619"/>
            <a:ext cx="4095238" cy="230476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Image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729449" y="1780758"/>
            <a:ext cx="2449180" cy="4305530"/>
            <a:chOff x="445712" y="1449040"/>
            <a:chExt cx="2113018" cy="3924176"/>
          </a:xfrm>
        </p:grpSpPr>
        <p:sp>
          <p:nvSpPr>
            <p:cNvPr id="5" name="Rounded Rectangle 4"/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7" name="Rectangle 5"/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8" name="Group 6"/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9" name="Oval 7"/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10" name="Rounded Rectangle 8"/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sp>
        <p:nvSpPr>
          <p:cNvPr id="11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873465" y="2174930"/>
            <a:ext cx="2152765" cy="334874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tIns="91440" anchor="ctr"/>
          <a:lstStyle>
            <a:lvl1pPr marL="0" indent="0" algn="ctr">
              <a:buNone/>
              <a:defRPr sz="5400" b="0" baseline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  <a:endParaRPr lang="en-US" altLang="ko-KR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24539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  <a:endParaRPr lang="en-US" altLang="ko-KR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  <a:endParaRPr lang="en-US" altLang="ko-KR" dirty="0"/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/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/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Change Fill Color &amp;</a:t>
            </a:r>
            <a:endParaRPr lang="en-US" altLang="ko-KR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/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Box 60"/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FREE </a:t>
            </a:r>
            <a:endParaRPr lang="en-US" altLang="ko-KR" sz="2800" b="1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PPT TEMPLATES</a:t>
            </a:r>
            <a:endParaRPr lang="en-US" altLang="ko-KR" sz="2800" b="1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/>
          <p:cNvSpPr/>
          <p:nvPr userDrawn="1"/>
        </p:nvSpPr>
        <p:spPr>
          <a:xfrm>
            <a:off x="8582684" y="1894646"/>
            <a:ext cx="3609315" cy="30687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그림 개체 틀 25"/>
          <p:cNvSpPr>
            <a:spLocks noGrp="1"/>
          </p:cNvSpPr>
          <p:nvPr>
            <p:ph type="pic" sz="quarter" idx="11" hasCustomPrompt="1"/>
          </p:nvPr>
        </p:nvSpPr>
        <p:spPr>
          <a:xfrm>
            <a:off x="4697013" y="52057"/>
            <a:ext cx="6847888" cy="6753884"/>
          </a:xfrm>
          <a:custGeom>
            <a:avLst/>
            <a:gdLst>
              <a:gd name="connsiteX0" fmla="*/ 3704348 w 6847888"/>
              <a:gd name="connsiteY0" fmla="*/ 5 h 6753884"/>
              <a:gd name="connsiteX1" fmla="*/ 4005720 w 6847888"/>
              <a:gd name="connsiteY1" fmla="*/ 361947 h 6753884"/>
              <a:gd name="connsiteX2" fmla="*/ 3756101 w 6847888"/>
              <a:gd name="connsiteY2" fmla="*/ 1075954 h 6753884"/>
              <a:gd name="connsiteX3" fmla="*/ 3808606 w 6847888"/>
              <a:gd name="connsiteY3" fmla="*/ 1408969 h 6753884"/>
              <a:gd name="connsiteX4" fmla="*/ 4102330 w 6847888"/>
              <a:gd name="connsiteY4" fmla="*/ 1405443 h 6753884"/>
              <a:gd name="connsiteX5" fmla="*/ 4189935 w 6847888"/>
              <a:gd name="connsiteY5" fmla="*/ 955591 h 6753884"/>
              <a:gd name="connsiteX6" fmla="*/ 4386903 w 6847888"/>
              <a:gd name="connsiteY6" fmla="*/ 729816 h 6753884"/>
              <a:gd name="connsiteX7" fmla="*/ 4462508 w 6847888"/>
              <a:gd name="connsiteY7" fmla="*/ 1003700 h 6753884"/>
              <a:gd name="connsiteX8" fmla="*/ 4290141 w 6847888"/>
              <a:gd name="connsiteY8" fmla="*/ 1451300 h 6753884"/>
              <a:gd name="connsiteX9" fmla="*/ 4479906 w 6847888"/>
              <a:gd name="connsiteY9" fmla="*/ 1558119 h 6753884"/>
              <a:gd name="connsiteX10" fmla="*/ 4652418 w 6847888"/>
              <a:gd name="connsiteY10" fmla="*/ 1291849 h 6753884"/>
              <a:gd name="connsiteX11" fmla="*/ 4765676 w 6847888"/>
              <a:gd name="connsiteY11" fmla="*/ 714012 h 6753884"/>
              <a:gd name="connsiteX12" fmla="*/ 4799428 w 6847888"/>
              <a:gd name="connsiteY12" fmla="*/ 394967 h 6753884"/>
              <a:gd name="connsiteX13" fmla="*/ 5004194 w 6847888"/>
              <a:gd name="connsiteY13" fmla="*/ 127002 h 6753884"/>
              <a:gd name="connsiteX14" fmla="*/ 5239118 w 6847888"/>
              <a:gd name="connsiteY14" fmla="*/ 192050 h 6753884"/>
              <a:gd name="connsiteX15" fmla="*/ 5208812 w 6847888"/>
              <a:gd name="connsiteY15" fmla="*/ 577136 h 6753884"/>
              <a:gd name="connsiteX16" fmla="*/ 4785928 w 6847888"/>
              <a:gd name="connsiteY16" fmla="*/ 1648852 h 6753884"/>
              <a:gd name="connsiteX17" fmla="*/ 5084152 w 6847888"/>
              <a:gd name="connsiteY17" fmla="*/ 1573924 h 6753884"/>
              <a:gd name="connsiteX18" fmla="*/ 5454388 w 6847888"/>
              <a:gd name="connsiteY18" fmla="*/ 1220876 h 6753884"/>
              <a:gd name="connsiteX19" fmla="*/ 5820412 w 6847888"/>
              <a:gd name="connsiteY19" fmla="*/ 791621 h 6753884"/>
              <a:gd name="connsiteX20" fmla="*/ 6488554 w 6847888"/>
              <a:gd name="connsiteY20" fmla="*/ 699901 h 6753884"/>
              <a:gd name="connsiteX21" fmla="*/ 6192287 w 6847888"/>
              <a:gd name="connsiteY21" fmla="*/ 1353942 h 6753884"/>
              <a:gd name="connsiteX22" fmla="*/ 5480803 w 6847888"/>
              <a:gd name="connsiteY22" fmla="*/ 1591998 h 6753884"/>
              <a:gd name="connsiteX23" fmla="*/ 4996546 w 6847888"/>
              <a:gd name="connsiteY23" fmla="*/ 2136796 h 6753884"/>
              <a:gd name="connsiteX24" fmla="*/ 5316970 w 6847888"/>
              <a:gd name="connsiteY24" fmla="*/ 2261685 h 6753884"/>
              <a:gd name="connsiteX25" fmla="*/ 5832552 w 6847888"/>
              <a:gd name="connsiteY25" fmla="*/ 2059893 h 6753884"/>
              <a:gd name="connsiteX26" fmla="*/ 6198284 w 6847888"/>
              <a:gd name="connsiteY26" fmla="*/ 1721240 h 6753884"/>
              <a:gd name="connsiteX27" fmla="*/ 6511057 w 6847888"/>
              <a:gd name="connsiteY27" fmla="*/ 1787139 h 6753884"/>
              <a:gd name="connsiteX28" fmla="*/ 6338392 w 6847888"/>
              <a:gd name="connsiteY28" fmla="*/ 2109428 h 6753884"/>
              <a:gd name="connsiteX29" fmla="*/ 5894660 w 6847888"/>
              <a:gd name="connsiteY29" fmla="*/ 2187178 h 6753884"/>
              <a:gd name="connsiteX30" fmla="*/ 5350720 w 6847888"/>
              <a:gd name="connsiteY30" fmla="*/ 2509611 h 6753884"/>
              <a:gd name="connsiteX31" fmla="*/ 5337966 w 6847888"/>
              <a:gd name="connsiteY31" fmla="*/ 2841924 h 6753884"/>
              <a:gd name="connsiteX32" fmla="*/ 5722747 w 6847888"/>
              <a:gd name="connsiteY32" fmla="*/ 2939991 h 6753884"/>
              <a:gd name="connsiteX33" fmla="*/ 6365545 w 6847888"/>
              <a:gd name="connsiteY33" fmla="*/ 2659891 h 6753884"/>
              <a:gd name="connsiteX34" fmla="*/ 6772825 w 6847888"/>
              <a:gd name="connsiteY34" fmla="*/ 2757962 h 6753884"/>
              <a:gd name="connsiteX35" fmla="*/ 6450302 w 6847888"/>
              <a:gd name="connsiteY35" fmla="*/ 3041588 h 6753884"/>
              <a:gd name="connsiteX36" fmla="*/ 5794002 w 6847888"/>
              <a:gd name="connsiteY36" fmla="*/ 3061344 h 6753884"/>
              <a:gd name="connsiteX37" fmla="*/ 5566884 w 6847888"/>
              <a:gd name="connsiteY37" fmla="*/ 3295578 h 6753884"/>
              <a:gd name="connsiteX38" fmla="*/ 5924786 w 6847888"/>
              <a:gd name="connsiteY38" fmla="*/ 3470206 h 6753884"/>
              <a:gd name="connsiteX39" fmla="*/ 6646448 w 6847888"/>
              <a:gd name="connsiteY39" fmla="*/ 3568310 h 6753884"/>
              <a:gd name="connsiteX40" fmla="*/ 5957990 w 6847888"/>
              <a:gd name="connsiteY40" fmla="*/ 3543273 h 6753884"/>
              <a:gd name="connsiteX41" fmla="*/ 5679994 w 6847888"/>
              <a:gd name="connsiteY41" fmla="*/ 3559455 h 6753884"/>
              <a:gd name="connsiteX42" fmla="*/ 5639035 w 6847888"/>
              <a:gd name="connsiteY42" fmla="*/ 4035837 h 6753884"/>
              <a:gd name="connsiteX43" fmla="*/ 6838762 w 6847888"/>
              <a:gd name="connsiteY43" fmla="*/ 4397663 h 6753884"/>
              <a:gd name="connsiteX44" fmla="*/ 5833001 w 6847888"/>
              <a:gd name="connsiteY44" fmla="*/ 4238897 h 6753884"/>
              <a:gd name="connsiteX45" fmla="*/ 5215709 w 6847888"/>
              <a:gd name="connsiteY45" fmla="*/ 4274451 h 6753884"/>
              <a:gd name="connsiteX46" fmla="*/ 5136502 w 6847888"/>
              <a:gd name="connsiteY46" fmla="*/ 4515036 h 6753884"/>
              <a:gd name="connsiteX47" fmla="*/ 5480660 w 6847888"/>
              <a:gd name="connsiteY47" fmla="*/ 4848320 h 6753884"/>
              <a:gd name="connsiteX48" fmla="*/ 6101276 w 6847888"/>
              <a:gd name="connsiteY48" fmla="*/ 5412584 h 6753884"/>
              <a:gd name="connsiteX49" fmla="*/ 5335310 w 6847888"/>
              <a:gd name="connsiteY49" fmla="*/ 4941769 h 6753884"/>
              <a:gd name="connsiteX50" fmla="*/ 4887530 w 6847888"/>
              <a:gd name="connsiteY50" fmla="*/ 4918188 h 6753884"/>
              <a:gd name="connsiteX51" fmla="*/ 4721424 w 6847888"/>
              <a:gd name="connsiteY51" fmla="*/ 5309901 h 6753884"/>
              <a:gd name="connsiteX52" fmla="*/ 4794693 w 6847888"/>
              <a:gd name="connsiteY52" fmla="*/ 5776368 h 6753884"/>
              <a:gd name="connsiteX53" fmla="*/ 4843214 w 6847888"/>
              <a:gd name="connsiteY53" fmla="*/ 6753302 h 6753884"/>
              <a:gd name="connsiteX54" fmla="*/ 4621620 w 6847888"/>
              <a:gd name="connsiteY54" fmla="*/ 6003373 h 6753884"/>
              <a:gd name="connsiteX55" fmla="*/ 4542910 w 6847888"/>
              <a:gd name="connsiteY55" fmla="*/ 5278318 h 6753884"/>
              <a:gd name="connsiteX56" fmla="*/ 4284891 w 6847888"/>
              <a:gd name="connsiteY56" fmla="*/ 4931956 h 6753884"/>
              <a:gd name="connsiteX57" fmla="*/ 3901613 w 6847888"/>
              <a:gd name="connsiteY57" fmla="*/ 4940185 h 6753884"/>
              <a:gd name="connsiteX58" fmla="*/ 3718599 w 6847888"/>
              <a:gd name="connsiteY58" fmla="*/ 5262629 h 6753884"/>
              <a:gd name="connsiteX59" fmla="*/ 3768102 w 6847888"/>
              <a:gd name="connsiteY59" fmla="*/ 5681014 h 6753884"/>
              <a:gd name="connsiteX60" fmla="*/ 3541585 w 6847888"/>
              <a:gd name="connsiteY60" fmla="*/ 6112805 h 6753884"/>
              <a:gd name="connsiteX61" fmla="*/ 3390074 w 6847888"/>
              <a:gd name="connsiteY61" fmla="*/ 5647148 h 6753884"/>
              <a:gd name="connsiteX62" fmla="*/ 3530334 w 6847888"/>
              <a:gd name="connsiteY62" fmla="*/ 5252751 h 6753884"/>
              <a:gd name="connsiteX63" fmla="*/ 3438078 w 6847888"/>
              <a:gd name="connsiteY63" fmla="*/ 4904921 h 6753884"/>
              <a:gd name="connsiteX64" fmla="*/ 3123805 w 6847888"/>
              <a:gd name="connsiteY64" fmla="*/ 4837894 h 6753884"/>
              <a:gd name="connsiteX65" fmla="*/ 2747277 w 6847888"/>
              <a:gd name="connsiteY65" fmla="*/ 5184314 h 6753884"/>
              <a:gd name="connsiteX66" fmla="*/ 2508759 w 6847888"/>
              <a:gd name="connsiteY66" fmla="*/ 5867983 h 6753884"/>
              <a:gd name="connsiteX67" fmla="*/ 1877212 w 6847888"/>
              <a:gd name="connsiteY67" fmla="*/ 6254619 h 6753884"/>
              <a:gd name="connsiteX68" fmla="*/ 1793956 w 6847888"/>
              <a:gd name="connsiteY68" fmla="*/ 5594938 h 6753884"/>
              <a:gd name="connsiteX69" fmla="*/ 2825282 w 6847888"/>
              <a:gd name="connsiteY69" fmla="*/ 4769457 h 6753884"/>
              <a:gd name="connsiteX70" fmla="*/ 2843283 w 6847888"/>
              <a:gd name="connsiteY70" fmla="*/ 4338371 h 6753884"/>
              <a:gd name="connsiteX71" fmla="*/ 2509509 w 6847888"/>
              <a:gd name="connsiteY71" fmla="*/ 4184563 h 6753884"/>
              <a:gd name="connsiteX72" fmla="*/ 2145732 w 6847888"/>
              <a:gd name="connsiteY72" fmla="*/ 4312267 h 6753884"/>
              <a:gd name="connsiteX73" fmla="*/ 1745953 w 6847888"/>
              <a:gd name="connsiteY73" fmla="*/ 4757462 h 6753884"/>
              <a:gd name="connsiteX74" fmla="*/ 1410678 w 6847888"/>
              <a:gd name="connsiteY74" fmla="*/ 4810378 h 6753884"/>
              <a:gd name="connsiteX75" fmla="*/ 1519436 w 6847888"/>
              <a:gd name="connsiteY75" fmla="*/ 4450552 h 6753884"/>
              <a:gd name="connsiteX76" fmla="*/ 2177235 w 6847888"/>
              <a:gd name="connsiteY76" fmla="*/ 4061094 h 6753884"/>
              <a:gd name="connsiteX77" fmla="*/ 2236489 w 6847888"/>
              <a:gd name="connsiteY77" fmla="*/ 3792989 h 6753884"/>
              <a:gd name="connsiteX78" fmla="*/ 1943218 w 6847888"/>
              <a:gd name="connsiteY78" fmla="*/ 3725256 h 6753884"/>
              <a:gd name="connsiteX79" fmla="*/ 1646195 w 6847888"/>
              <a:gd name="connsiteY79" fmla="*/ 3769000 h 6753884"/>
              <a:gd name="connsiteX80" fmla="*/ 1475933 w 6847888"/>
              <a:gd name="connsiteY80" fmla="*/ 3821210 h 6753884"/>
              <a:gd name="connsiteX81" fmla="*/ 773301 w 6847888"/>
              <a:gd name="connsiteY81" fmla="*/ 4138496 h 6753884"/>
              <a:gd name="connsiteX82" fmla="*/ 10449 w 6847888"/>
              <a:gd name="connsiteY82" fmla="*/ 4282644 h 6753884"/>
              <a:gd name="connsiteX83" fmla="*/ 698113 w 6847888"/>
              <a:gd name="connsiteY83" fmla="*/ 3885768 h 6753884"/>
              <a:gd name="connsiteX84" fmla="*/ 1569689 w 6847888"/>
              <a:gd name="connsiteY84" fmla="*/ 3693508 h 6753884"/>
              <a:gd name="connsiteX85" fmla="*/ 1871212 w 6847888"/>
              <a:gd name="connsiteY85" fmla="*/ 3598260 h 6753884"/>
              <a:gd name="connsiteX86" fmla="*/ 2129231 w 6847888"/>
              <a:gd name="connsiteY86" fmla="*/ 3361198 h 6753884"/>
              <a:gd name="connsiteX87" fmla="*/ 1946218 w 6847888"/>
              <a:gd name="connsiteY87" fmla="*/ 3168586 h 6753884"/>
              <a:gd name="connsiteX88" fmla="*/ 1078525 w 6847888"/>
              <a:gd name="connsiteY88" fmla="*/ 3261717 h 6753884"/>
              <a:gd name="connsiteX89" fmla="*/ 355264 w 6847888"/>
              <a:gd name="connsiteY89" fmla="*/ 3077920 h 6753884"/>
              <a:gd name="connsiteX90" fmla="*/ 1270418 w 6847888"/>
              <a:gd name="connsiteY90" fmla="*/ 3019717 h 6753884"/>
              <a:gd name="connsiteX91" fmla="*/ 1876462 w 6847888"/>
              <a:gd name="connsiteY91" fmla="*/ 2963274 h 6753884"/>
              <a:gd name="connsiteX92" fmla="*/ 2046289 w 6847888"/>
              <a:gd name="connsiteY92" fmla="*/ 2552361 h 6753884"/>
              <a:gd name="connsiteX93" fmla="*/ 1608020 w 6847888"/>
              <a:gd name="connsiteY93" fmla="*/ 2243943 h 6753884"/>
              <a:gd name="connsiteX94" fmla="*/ 884360 w 6847888"/>
              <a:gd name="connsiteY94" fmla="*/ 1671796 h 6753884"/>
              <a:gd name="connsiteX95" fmla="*/ 1677807 w 6847888"/>
              <a:gd name="connsiteY95" fmla="*/ 2125859 h 6753884"/>
              <a:gd name="connsiteX96" fmla="*/ 2480999 w 6847888"/>
              <a:gd name="connsiteY96" fmla="*/ 2291025 h 6753884"/>
              <a:gd name="connsiteX97" fmla="*/ 2789337 w 6847888"/>
              <a:gd name="connsiteY97" fmla="*/ 1973660 h 6753884"/>
              <a:gd name="connsiteX98" fmla="*/ 2605228 w 6847888"/>
              <a:gd name="connsiteY98" fmla="*/ 1554212 h 6753884"/>
              <a:gd name="connsiteX99" fmla="*/ 1886011 w 6847888"/>
              <a:gd name="connsiteY99" fmla="*/ 841920 h 6753884"/>
              <a:gd name="connsiteX100" fmla="*/ 2701797 w 6847888"/>
              <a:gd name="connsiteY100" fmla="*/ 1488981 h 6753884"/>
              <a:gd name="connsiteX101" fmla="*/ 3003046 w 6847888"/>
              <a:gd name="connsiteY101" fmla="*/ 1694006 h 6753884"/>
              <a:gd name="connsiteX102" fmla="*/ 3172858 w 6847888"/>
              <a:gd name="connsiteY102" fmla="*/ 1616116 h 6753884"/>
              <a:gd name="connsiteX103" fmla="*/ 3170310 w 6847888"/>
              <a:gd name="connsiteY103" fmla="*/ 1323597 h 6753884"/>
              <a:gd name="connsiteX104" fmla="*/ 2928026 w 6847888"/>
              <a:gd name="connsiteY104" fmla="*/ 677624 h 6753884"/>
              <a:gd name="connsiteX105" fmla="*/ 3225507 w 6847888"/>
              <a:gd name="connsiteY105" fmla="*/ 1291714 h 6753884"/>
              <a:gd name="connsiteX106" fmla="*/ 3426679 w 6847888"/>
              <a:gd name="connsiteY106" fmla="*/ 1486720 h 6753884"/>
              <a:gd name="connsiteX107" fmla="*/ 3527334 w 6847888"/>
              <a:gd name="connsiteY107" fmla="*/ 1399091 h 6753884"/>
              <a:gd name="connsiteX108" fmla="*/ 3537085 w 6847888"/>
              <a:gd name="connsiteY108" fmla="*/ 1104881 h 6753884"/>
              <a:gd name="connsiteX109" fmla="*/ 3372073 w 6847888"/>
              <a:gd name="connsiteY109" fmla="*/ 293510 h 6753884"/>
              <a:gd name="connsiteX110" fmla="*/ 3704348 w 6847888"/>
              <a:gd name="connsiteY110" fmla="*/ 5 h 6753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6847888" h="6753884">
                <a:moveTo>
                  <a:pt x="3704348" y="5"/>
                </a:moveTo>
                <a:cubicBezTo>
                  <a:pt x="3810646" y="-809"/>
                  <a:pt x="4026723" y="117124"/>
                  <a:pt x="4005720" y="361947"/>
                </a:cubicBezTo>
                <a:cubicBezTo>
                  <a:pt x="3986743" y="580216"/>
                  <a:pt x="3787229" y="901450"/>
                  <a:pt x="3756101" y="1075954"/>
                </a:cubicBezTo>
                <a:cubicBezTo>
                  <a:pt x="3742751" y="1176844"/>
                  <a:pt x="3745600" y="1330654"/>
                  <a:pt x="3808606" y="1408969"/>
                </a:cubicBezTo>
                <a:cubicBezTo>
                  <a:pt x="3880610" y="1486578"/>
                  <a:pt x="4030324" y="1512685"/>
                  <a:pt x="4102330" y="1405443"/>
                </a:cubicBezTo>
                <a:cubicBezTo>
                  <a:pt x="4185586" y="1287617"/>
                  <a:pt x="4206888" y="1092324"/>
                  <a:pt x="4189935" y="955591"/>
                </a:cubicBezTo>
                <a:cubicBezTo>
                  <a:pt x="4179856" y="789440"/>
                  <a:pt x="4293168" y="715308"/>
                  <a:pt x="4386903" y="729816"/>
                </a:cubicBezTo>
                <a:cubicBezTo>
                  <a:pt x="4480638" y="744325"/>
                  <a:pt x="4529242" y="877503"/>
                  <a:pt x="4462508" y="1003700"/>
                </a:cubicBezTo>
                <a:cubicBezTo>
                  <a:pt x="4392324" y="1120160"/>
                  <a:pt x="4279766" y="1338885"/>
                  <a:pt x="4290141" y="1451300"/>
                </a:cubicBezTo>
                <a:cubicBezTo>
                  <a:pt x="4288366" y="1524678"/>
                  <a:pt x="4391924" y="1561977"/>
                  <a:pt x="4479906" y="1558119"/>
                </a:cubicBezTo>
                <a:cubicBezTo>
                  <a:pt x="4599916" y="1551769"/>
                  <a:pt x="4630666" y="1394858"/>
                  <a:pt x="4652418" y="1291849"/>
                </a:cubicBezTo>
                <a:cubicBezTo>
                  <a:pt x="4692172" y="1095709"/>
                  <a:pt x="4755176" y="909446"/>
                  <a:pt x="4765676" y="714012"/>
                </a:cubicBezTo>
                <a:cubicBezTo>
                  <a:pt x="4790178" y="564532"/>
                  <a:pt x="4759676" y="492802"/>
                  <a:pt x="4799428" y="394967"/>
                </a:cubicBezTo>
                <a:cubicBezTo>
                  <a:pt x="4841432" y="238337"/>
                  <a:pt x="4931439" y="146757"/>
                  <a:pt x="5004194" y="127002"/>
                </a:cubicBezTo>
                <a:cubicBezTo>
                  <a:pt x="5150010" y="75499"/>
                  <a:pt x="5211817" y="169191"/>
                  <a:pt x="5239118" y="192050"/>
                </a:cubicBezTo>
                <a:cubicBezTo>
                  <a:pt x="5299674" y="250846"/>
                  <a:pt x="5296994" y="393292"/>
                  <a:pt x="5208812" y="577136"/>
                </a:cubicBezTo>
                <a:cubicBezTo>
                  <a:pt x="5067800" y="821536"/>
                  <a:pt x="4525658" y="1443540"/>
                  <a:pt x="4785928" y="1648852"/>
                </a:cubicBezTo>
                <a:cubicBezTo>
                  <a:pt x="4920938" y="1725051"/>
                  <a:pt x="5009743" y="1637420"/>
                  <a:pt x="5084152" y="1573924"/>
                </a:cubicBezTo>
                <a:cubicBezTo>
                  <a:pt x="5127654" y="1540058"/>
                  <a:pt x="5352230" y="1344488"/>
                  <a:pt x="5454388" y="1220876"/>
                </a:cubicBezTo>
                <a:cubicBezTo>
                  <a:pt x="5595400" y="1069185"/>
                  <a:pt x="5664252" y="970828"/>
                  <a:pt x="5820412" y="791621"/>
                </a:cubicBezTo>
                <a:cubicBezTo>
                  <a:pt x="5968922" y="636402"/>
                  <a:pt x="6229786" y="490356"/>
                  <a:pt x="6488554" y="699901"/>
                </a:cubicBezTo>
                <a:cubicBezTo>
                  <a:pt x="6742073" y="1018099"/>
                  <a:pt x="6400803" y="1304555"/>
                  <a:pt x="6192287" y="1353942"/>
                </a:cubicBezTo>
                <a:cubicBezTo>
                  <a:pt x="5889261" y="1436635"/>
                  <a:pt x="5698873" y="1491549"/>
                  <a:pt x="5480803" y="1591998"/>
                </a:cubicBezTo>
                <a:cubicBezTo>
                  <a:pt x="5253910" y="1696510"/>
                  <a:pt x="4931590" y="1809017"/>
                  <a:pt x="4996546" y="2136796"/>
                </a:cubicBezTo>
                <a:cubicBezTo>
                  <a:pt x="5046203" y="2240795"/>
                  <a:pt x="5220216" y="2280734"/>
                  <a:pt x="5316970" y="2261685"/>
                </a:cubicBezTo>
                <a:cubicBezTo>
                  <a:pt x="5465506" y="2226691"/>
                  <a:pt x="5685666" y="2149966"/>
                  <a:pt x="5832552" y="2059893"/>
                </a:cubicBezTo>
                <a:cubicBezTo>
                  <a:pt x="5944310" y="1983412"/>
                  <a:pt x="6085200" y="1766699"/>
                  <a:pt x="6198284" y="1721240"/>
                </a:cubicBezTo>
                <a:cubicBezTo>
                  <a:pt x="6311367" y="1675781"/>
                  <a:pt x="6409799" y="1653087"/>
                  <a:pt x="6511057" y="1787139"/>
                </a:cubicBezTo>
                <a:cubicBezTo>
                  <a:pt x="6586814" y="1937277"/>
                  <a:pt x="6450153" y="2050727"/>
                  <a:pt x="6338392" y="2109428"/>
                </a:cubicBezTo>
                <a:cubicBezTo>
                  <a:pt x="6216682" y="2164201"/>
                  <a:pt x="6007516" y="2152934"/>
                  <a:pt x="5894660" y="2187178"/>
                </a:cubicBezTo>
                <a:cubicBezTo>
                  <a:pt x="5781804" y="2221422"/>
                  <a:pt x="5522488" y="2346487"/>
                  <a:pt x="5350720" y="2509611"/>
                </a:cubicBezTo>
                <a:cubicBezTo>
                  <a:pt x="5241060" y="2619816"/>
                  <a:pt x="5275712" y="2737504"/>
                  <a:pt x="5337966" y="2841924"/>
                </a:cubicBezTo>
                <a:cubicBezTo>
                  <a:pt x="5400220" y="2946343"/>
                  <a:pt x="5592838" y="2982464"/>
                  <a:pt x="5722747" y="2939991"/>
                </a:cubicBezTo>
                <a:cubicBezTo>
                  <a:pt x="5947168" y="2871978"/>
                  <a:pt x="6241035" y="2686984"/>
                  <a:pt x="6365545" y="2659891"/>
                </a:cubicBezTo>
                <a:cubicBezTo>
                  <a:pt x="6512556" y="2630965"/>
                  <a:pt x="6751074" y="2582282"/>
                  <a:pt x="6772825" y="2757962"/>
                </a:cubicBezTo>
                <a:cubicBezTo>
                  <a:pt x="6792326" y="2934346"/>
                  <a:pt x="6647566" y="3011956"/>
                  <a:pt x="6450302" y="3041588"/>
                </a:cubicBezTo>
                <a:cubicBezTo>
                  <a:pt x="6314542" y="3061344"/>
                  <a:pt x="6067777" y="3008996"/>
                  <a:pt x="5794002" y="3061344"/>
                </a:cubicBezTo>
                <a:cubicBezTo>
                  <a:pt x="5694092" y="3093797"/>
                  <a:pt x="5565984" y="3135708"/>
                  <a:pt x="5566884" y="3295578"/>
                </a:cubicBezTo>
                <a:cubicBezTo>
                  <a:pt x="5584136" y="3394602"/>
                  <a:pt x="5764046" y="3461148"/>
                  <a:pt x="5924786" y="3470206"/>
                </a:cubicBezTo>
                <a:cubicBezTo>
                  <a:pt x="6241250" y="3470455"/>
                  <a:pt x="6675030" y="3353870"/>
                  <a:pt x="6646448" y="3568310"/>
                </a:cubicBezTo>
                <a:cubicBezTo>
                  <a:pt x="6606736" y="3806610"/>
                  <a:pt x="6208178" y="3558109"/>
                  <a:pt x="5957990" y="3543273"/>
                </a:cubicBezTo>
                <a:cubicBezTo>
                  <a:pt x="5890802" y="3537398"/>
                  <a:pt x="5745062" y="3544992"/>
                  <a:pt x="5679994" y="3559455"/>
                </a:cubicBezTo>
                <a:cubicBezTo>
                  <a:pt x="5453044" y="3598970"/>
                  <a:pt x="5291757" y="3892894"/>
                  <a:pt x="5639035" y="4035837"/>
                </a:cubicBezTo>
                <a:cubicBezTo>
                  <a:pt x="5961740" y="4167682"/>
                  <a:pt x="6953080" y="3913801"/>
                  <a:pt x="6838762" y="4397663"/>
                </a:cubicBezTo>
                <a:cubicBezTo>
                  <a:pt x="6705978" y="4839592"/>
                  <a:pt x="6223310" y="4344608"/>
                  <a:pt x="5833001" y="4238897"/>
                </a:cubicBezTo>
                <a:cubicBezTo>
                  <a:pt x="5646234" y="4186402"/>
                  <a:pt x="5306312" y="4159727"/>
                  <a:pt x="5215709" y="4274451"/>
                </a:cubicBezTo>
                <a:cubicBezTo>
                  <a:pt x="5163956" y="4333010"/>
                  <a:pt x="5115501" y="4416966"/>
                  <a:pt x="5136502" y="4515036"/>
                </a:cubicBezTo>
                <a:cubicBezTo>
                  <a:pt x="5159005" y="4603405"/>
                  <a:pt x="5300256" y="4745093"/>
                  <a:pt x="5480660" y="4848320"/>
                </a:cubicBezTo>
                <a:cubicBezTo>
                  <a:pt x="5689832" y="4949866"/>
                  <a:pt x="6354463" y="5164998"/>
                  <a:pt x="6101276" y="5412584"/>
                </a:cubicBezTo>
                <a:cubicBezTo>
                  <a:pt x="5865496" y="5624531"/>
                  <a:pt x="5484828" y="5051110"/>
                  <a:pt x="5335310" y="4941769"/>
                </a:cubicBezTo>
                <a:cubicBezTo>
                  <a:pt x="5119438" y="4860879"/>
                  <a:pt x="4989844" y="4856833"/>
                  <a:pt x="4887530" y="4918188"/>
                </a:cubicBezTo>
                <a:cubicBezTo>
                  <a:pt x="4794522" y="5004970"/>
                  <a:pt x="4697526" y="5071784"/>
                  <a:pt x="4721424" y="5309901"/>
                </a:cubicBezTo>
                <a:cubicBezTo>
                  <a:pt x="4755926" y="5583650"/>
                  <a:pt x="4727188" y="5504030"/>
                  <a:pt x="4794693" y="5776368"/>
                </a:cubicBezTo>
                <a:cubicBezTo>
                  <a:pt x="4904951" y="6155243"/>
                  <a:pt x="5127484" y="6709559"/>
                  <a:pt x="4843214" y="6753302"/>
                </a:cubicBezTo>
                <a:cubicBezTo>
                  <a:pt x="4588196" y="6769530"/>
                  <a:pt x="4579617" y="6445041"/>
                  <a:pt x="4621620" y="6003373"/>
                </a:cubicBezTo>
                <a:cubicBezTo>
                  <a:pt x="4647170" y="5698890"/>
                  <a:pt x="4617916" y="5550657"/>
                  <a:pt x="4542910" y="5278318"/>
                </a:cubicBezTo>
                <a:cubicBezTo>
                  <a:pt x="4468702" y="5079954"/>
                  <a:pt x="4391774" y="4988312"/>
                  <a:pt x="4284891" y="4931956"/>
                </a:cubicBezTo>
                <a:cubicBezTo>
                  <a:pt x="4178008" y="4875601"/>
                  <a:pt x="4014121" y="4892209"/>
                  <a:pt x="3901613" y="4940185"/>
                </a:cubicBezTo>
                <a:cubicBezTo>
                  <a:pt x="3743350" y="5001568"/>
                  <a:pt x="3741100" y="5120815"/>
                  <a:pt x="3718599" y="5262629"/>
                </a:cubicBezTo>
                <a:cubicBezTo>
                  <a:pt x="3709598" y="5410793"/>
                  <a:pt x="3737350" y="5450302"/>
                  <a:pt x="3768102" y="5681014"/>
                </a:cubicBezTo>
                <a:cubicBezTo>
                  <a:pt x="3780853" y="5856693"/>
                  <a:pt x="3746350" y="6098694"/>
                  <a:pt x="3541585" y="6112805"/>
                </a:cubicBezTo>
                <a:cubicBezTo>
                  <a:pt x="3324820" y="6102222"/>
                  <a:pt x="3348072" y="5776967"/>
                  <a:pt x="3390074" y="5647148"/>
                </a:cubicBezTo>
                <a:cubicBezTo>
                  <a:pt x="3432077" y="5517329"/>
                  <a:pt x="3522084" y="5376221"/>
                  <a:pt x="3530334" y="5252751"/>
                </a:cubicBezTo>
                <a:cubicBezTo>
                  <a:pt x="3538585" y="5129281"/>
                  <a:pt x="3505583" y="4974063"/>
                  <a:pt x="3438078" y="4904921"/>
                </a:cubicBezTo>
                <a:cubicBezTo>
                  <a:pt x="3370573" y="4835777"/>
                  <a:pt x="3245314" y="4820961"/>
                  <a:pt x="3123805" y="4837894"/>
                </a:cubicBezTo>
                <a:cubicBezTo>
                  <a:pt x="2952042" y="4883754"/>
                  <a:pt x="2850034" y="5012867"/>
                  <a:pt x="2747277" y="5184314"/>
                </a:cubicBezTo>
                <a:cubicBezTo>
                  <a:pt x="2644519" y="5355760"/>
                  <a:pt x="2559763" y="5625982"/>
                  <a:pt x="2508759" y="5867983"/>
                </a:cubicBezTo>
                <a:cubicBezTo>
                  <a:pt x="2460755" y="6006268"/>
                  <a:pt x="2223738" y="6403487"/>
                  <a:pt x="1877212" y="6254619"/>
                </a:cubicBezTo>
                <a:cubicBezTo>
                  <a:pt x="1636444" y="6171364"/>
                  <a:pt x="1607193" y="5793900"/>
                  <a:pt x="1793956" y="5594938"/>
                </a:cubicBezTo>
                <a:cubicBezTo>
                  <a:pt x="2088728" y="5283090"/>
                  <a:pt x="2592015" y="5170203"/>
                  <a:pt x="2825282" y="4769457"/>
                </a:cubicBezTo>
                <a:cubicBezTo>
                  <a:pt x="2918289" y="4595893"/>
                  <a:pt x="2895788" y="4435736"/>
                  <a:pt x="2843283" y="4338371"/>
                </a:cubicBezTo>
                <a:cubicBezTo>
                  <a:pt x="2790780" y="4241007"/>
                  <a:pt x="2641519" y="4190208"/>
                  <a:pt x="2509509" y="4184563"/>
                </a:cubicBezTo>
                <a:cubicBezTo>
                  <a:pt x="2358748" y="4181741"/>
                  <a:pt x="2273241" y="4217018"/>
                  <a:pt x="2145732" y="4312267"/>
                </a:cubicBezTo>
                <a:cubicBezTo>
                  <a:pt x="2018222" y="4407514"/>
                  <a:pt x="1852461" y="4674914"/>
                  <a:pt x="1745953" y="4757462"/>
                </a:cubicBezTo>
                <a:cubicBezTo>
                  <a:pt x="1658196" y="4843537"/>
                  <a:pt x="1498434" y="4878110"/>
                  <a:pt x="1410678" y="4810378"/>
                </a:cubicBezTo>
                <a:cubicBezTo>
                  <a:pt x="1280168" y="4721480"/>
                  <a:pt x="1403177" y="4498529"/>
                  <a:pt x="1519436" y="4450552"/>
                </a:cubicBezTo>
                <a:cubicBezTo>
                  <a:pt x="1787955" y="4347544"/>
                  <a:pt x="2057226" y="4170453"/>
                  <a:pt x="2177235" y="4061094"/>
                </a:cubicBezTo>
                <a:cubicBezTo>
                  <a:pt x="2297244" y="3951736"/>
                  <a:pt x="2282993" y="3869892"/>
                  <a:pt x="2236489" y="3792989"/>
                </a:cubicBezTo>
                <a:cubicBezTo>
                  <a:pt x="2154732" y="3718907"/>
                  <a:pt x="2105229" y="3718202"/>
                  <a:pt x="1943218" y="3725256"/>
                </a:cubicBezTo>
                <a:cubicBezTo>
                  <a:pt x="1769954" y="3730901"/>
                  <a:pt x="1718201" y="3759123"/>
                  <a:pt x="1646195" y="3769000"/>
                </a:cubicBezTo>
                <a:cubicBezTo>
                  <a:pt x="1589191" y="3786639"/>
                  <a:pt x="1621415" y="3759627"/>
                  <a:pt x="1475933" y="3821210"/>
                </a:cubicBezTo>
                <a:cubicBezTo>
                  <a:pt x="1330451" y="3882794"/>
                  <a:pt x="996953" y="4018334"/>
                  <a:pt x="773301" y="4138496"/>
                </a:cubicBezTo>
                <a:cubicBezTo>
                  <a:pt x="529052" y="4269722"/>
                  <a:pt x="137210" y="4545329"/>
                  <a:pt x="10449" y="4282644"/>
                </a:cubicBezTo>
                <a:cubicBezTo>
                  <a:pt x="-71518" y="4012081"/>
                  <a:pt x="344836" y="3944329"/>
                  <a:pt x="698113" y="3885768"/>
                </a:cubicBezTo>
                <a:cubicBezTo>
                  <a:pt x="971883" y="3849080"/>
                  <a:pt x="1374172" y="3741426"/>
                  <a:pt x="1569689" y="3693508"/>
                </a:cubicBezTo>
                <a:cubicBezTo>
                  <a:pt x="1765206" y="3645589"/>
                  <a:pt x="1770704" y="3640592"/>
                  <a:pt x="1871212" y="3598260"/>
                </a:cubicBezTo>
                <a:cubicBezTo>
                  <a:pt x="1961969" y="3542522"/>
                  <a:pt x="2122480" y="3500189"/>
                  <a:pt x="2129231" y="3361198"/>
                </a:cubicBezTo>
                <a:cubicBezTo>
                  <a:pt x="2131481" y="3239845"/>
                  <a:pt x="2060976" y="3207391"/>
                  <a:pt x="1946218" y="3168586"/>
                </a:cubicBezTo>
                <a:cubicBezTo>
                  <a:pt x="1771100" y="3152007"/>
                  <a:pt x="1388950" y="3204399"/>
                  <a:pt x="1078525" y="3261717"/>
                </a:cubicBezTo>
                <a:cubicBezTo>
                  <a:pt x="768100" y="3319035"/>
                  <a:pt x="334262" y="3420107"/>
                  <a:pt x="355264" y="3077920"/>
                </a:cubicBezTo>
                <a:cubicBezTo>
                  <a:pt x="419768" y="2677879"/>
                  <a:pt x="878138" y="2975268"/>
                  <a:pt x="1270418" y="3019717"/>
                </a:cubicBezTo>
                <a:cubicBezTo>
                  <a:pt x="1492434" y="3054994"/>
                  <a:pt x="1726451" y="3053583"/>
                  <a:pt x="1876462" y="2963274"/>
                </a:cubicBezTo>
                <a:cubicBezTo>
                  <a:pt x="1971719" y="2866615"/>
                  <a:pt x="2091030" y="2672250"/>
                  <a:pt x="2046289" y="2552361"/>
                </a:cubicBezTo>
                <a:cubicBezTo>
                  <a:pt x="2001549" y="2432472"/>
                  <a:pt x="1608041" y="2243980"/>
                  <a:pt x="1608020" y="2243943"/>
                </a:cubicBezTo>
                <a:cubicBezTo>
                  <a:pt x="1296260" y="2073846"/>
                  <a:pt x="701803" y="1907011"/>
                  <a:pt x="884360" y="1671796"/>
                </a:cubicBezTo>
                <a:cubicBezTo>
                  <a:pt x="1089824" y="1412656"/>
                  <a:pt x="1481682" y="1994995"/>
                  <a:pt x="1677807" y="2125859"/>
                </a:cubicBezTo>
                <a:cubicBezTo>
                  <a:pt x="2056079" y="2339783"/>
                  <a:pt x="2295745" y="2316391"/>
                  <a:pt x="2480999" y="2291025"/>
                </a:cubicBezTo>
                <a:cubicBezTo>
                  <a:pt x="2666255" y="2265659"/>
                  <a:pt x="2767530" y="2105153"/>
                  <a:pt x="2789337" y="1973660"/>
                </a:cubicBezTo>
                <a:cubicBezTo>
                  <a:pt x="2809717" y="1860696"/>
                  <a:pt x="2713780" y="1633569"/>
                  <a:pt x="2605228" y="1554212"/>
                </a:cubicBezTo>
                <a:cubicBezTo>
                  <a:pt x="2304269" y="1292718"/>
                  <a:pt x="1625026" y="1082788"/>
                  <a:pt x="1886011" y="841920"/>
                </a:cubicBezTo>
                <a:cubicBezTo>
                  <a:pt x="2137837" y="626183"/>
                  <a:pt x="2414335" y="1222589"/>
                  <a:pt x="2701797" y="1488981"/>
                </a:cubicBezTo>
                <a:cubicBezTo>
                  <a:pt x="2883834" y="1636745"/>
                  <a:pt x="2924536" y="1672817"/>
                  <a:pt x="3003046" y="1694006"/>
                </a:cubicBezTo>
                <a:cubicBezTo>
                  <a:pt x="3081556" y="1715196"/>
                  <a:pt x="3144981" y="1677851"/>
                  <a:pt x="3172858" y="1616116"/>
                </a:cubicBezTo>
                <a:cubicBezTo>
                  <a:pt x="3200735" y="1554382"/>
                  <a:pt x="3211115" y="1480012"/>
                  <a:pt x="3170310" y="1323597"/>
                </a:cubicBezTo>
                <a:cubicBezTo>
                  <a:pt x="3129505" y="1167182"/>
                  <a:pt x="2599438" y="804735"/>
                  <a:pt x="2928026" y="677624"/>
                </a:cubicBezTo>
                <a:cubicBezTo>
                  <a:pt x="3190782" y="552811"/>
                  <a:pt x="3103292" y="1038951"/>
                  <a:pt x="3225507" y="1291714"/>
                </a:cubicBezTo>
                <a:cubicBezTo>
                  <a:pt x="3297966" y="1401632"/>
                  <a:pt x="3343420" y="1480087"/>
                  <a:pt x="3426679" y="1486720"/>
                </a:cubicBezTo>
                <a:cubicBezTo>
                  <a:pt x="3501136" y="1491635"/>
                  <a:pt x="3501457" y="1464354"/>
                  <a:pt x="3527334" y="1399091"/>
                </a:cubicBezTo>
                <a:cubicBezTo>
                  <a:pt x="3548336" y="1340531"/>
                  <a:pt x="3548336" y="1183196"/>
                  <a:pt x="3537085" y="1104881"/>
                </a:cubicBezTo>
                <a:cubicBezTo>
                  <a:pt x="3511208" y="920618"/>
                  <a:pt x="3344196" y="477655"/>
                  <a:pt x="3372073" y="293510"/>
                </a:cubicBezTo>
                <a:cubicBezTo>
                  <a:pt x="3412576" y="117124"/>
                  <a:pt x="3498677" y="1580"/>
                  <a:pt x="3704348" y="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2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Images &amp;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3"/>
          <p:cNvSpPr>
            <a:spLocks noGrp="1"/>
          </p:cNvSpPr>
          <p:nvPr>
            <p:ph type="pic" sz="quarter" idx="10" hasCustomPrompt="1"/>
          </p:nvPr>
        </p:nvSpPr>
        <p:spPr>
          <a:xfrm>
            <a:off x="4637014" y="0"/>
            <a:ext cx="7554989" cy="6858000"/>
          </a:xfrm>
          <a:custGeom>
            <a:avLst/>
            <a:gdLst>
              <a:gd name="connsiteX0" fmla="*/ 0 w 7554989"/>
              <a:gd name="connsiteY0" fmla="*/ 0 h 6858000"/>
              <a:gd name="connsiteX1" fmla="*/ 7554989 w 7554989"/>
              <a:gd name="connsiteY1" fmla="*/ 0 h 6858000"/>
              <a:gd name="connsiteX2" fmla="*/ 7554989 w 7554989"/>
              <a:gd name="connsiteY2" fmla="*/ 6858000 h 6858000"/>
              <a:gd name="connsiteX3" fmla="*/ 6857999 w 755498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54989" h="6858000">
                <a:moveTo>
                  <a:pt x="0" y="0"/>
                </a:moveTo>
                <a:lnTo>
                  <a:pt x="7554989" y="0"/>
                </a:lnTo>
                <a:lnTo>
                  <a:pt x="7554989" y="6858000"/>
                </a:lnTo>
                <a:lnTo>
                  <a:pt x="6857999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2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1.xml"/><Relationship Id="rId23" Type="http://schemas.openxmlformats.org/officeDocument/2006/relationships/theme" Target="../theme/theme2.xml"/><Relationship Id="rId22" Type="http://schemas.openxmlformats.org/officeDocument/2006/relationships/slideLayout" Target="../slideLayouts/slideLayout40.xml"/><Relationship Id="rId21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86" r:id="rId19"/>
    <p:sldLayoutId id="2147483687" r:id="rId20"/>
    <p:sldLayoutId id="2147483688" r:id="rId21"/>
    <p:sldLayoutId id="2147483689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4552387"/>
            <a:ext cx="12192000" cy="9220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en-US" sz="5400">
                <a:sym typeface="+mn-ea"/>
              </a:rPr>
              <a:t>Bar-Code Detection and Decoding</a:t>
            </a:r>
            <a:endParaRPr lang="ko-KR" altLang="en-US" sz="54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5431790"/>
            <a:ext cx="12192000" cy="124523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865" dirty="0">
                <a:cs typeface="Arial" panose="020B0604020202020204" pitchFamily="34" charset="0"/>
              </a:rPr>
              <a:t>Heba Majed Kullab 220212022</a:t>
            </a:r>
            <a:endParaRPr lang="en-US" altLang="ko-KR" sz="1865" dirty="0">
              <a:cs typeface="Arial" panose="020B0604020202020204" pitchFamily="34" charset="0"/>
            </a:endParaRPr>
          </a:p>
          <a:p>
            <a:pPr algn="ctr"/>
            <a:r>
              <a:rPr lang="en-US" altLang="ko-KR" sz="1865" dirty="0">
                <a:cs typeface="Arial" panose="020B0604020202020204" pitchFamily="34" charset="0"/>
              </a:rPr>
              <a:t>08/02/2025</a:t>
            </a:r>
            <a:endParaRPr lang="en-US" altLang="ko-KR" sz="1865" dirty="0"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/>
          <p:nvPr/>
        </p:nvPicPr>
        <p:blipFill>
          <a:blip/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</p:spPr>
      </p:pic>
      <p:pic>
        <p:nvPicPr>
          <p:cNvPr id="21" name="Content Placeholder 2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085070" y="5720080"/>
            <a:ext cx="1707515" cy="8832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6874510" y="1069976"/>
            <a:ext cx="4797425" cy="1905634"/>
            <a:chOff x="6665542" y="3103529"/>
            <a:chExt cx="4797245" cy="282757"/>
          </a:xfrm>
        </p:grpSpPr>
        <p:sp>
          <p:nvSpPr>
            <p:cNvPr id="8" name="TextBox 7"/>
            <p:cNvSpPr txBox="1"/>
            <p:nvPr/>
          </p:nvSpPr>
          <p:spPr>
            <a:xfrm>
              <a:off x="6665542" y="3103529"/>
              <a:ext cx="4777152" cy="12314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en-US" sz="4800">
                  <a:sym typeface="+mn-ea"/>
                </a:rPr>
                <a:t>Problem Domain:</a:t>
              </a:r>
              <a:endParaRPr lang="ko-KR" altLang="en-US" sz="4800" b="1" dirty="0"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685861" y="3214710"/>
              <a:ext cx="4776926" cy="171576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en-US" altLang="en-US" sz="1865">
                  <a:sym typeface="+mn-ea"/>
                </a:rPr>
                <a:t>Determining the location of the barcode in complex images with noise or uneven lighting.</a:t>
              </a:r>
              <a:endParaRPr lang="en-US" altLang="en-US" sz="1865"/>
            </a:p>
            <a:p>
              <a:r>
                <a:rPr lang="en-US" altLang="en-US" sz="1865">
                  <a:sym typeface="+mn-ea"/>
                </a:rPr>
                <a:t>Decoding the barcode accurately, even under non-ideal conditions.</a:t>
              </a:r>
              <a:endParaRPr lang="ko-KR" altLang="en-US" sz="1865" dirty="0">
                <a:cs typeface="Arial" panose="020B0604020202020204" pitchFamily="34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6894830" y="3371216"/>
            <a:ext cx="4797425" cy="1905634"/>
            <a:chOff x="6665542" y="3103529"/>
            <a:chExt cx="4797245" cy="282757"/>
          </a:xfrm>
        </p:grpSpPr>
        <p:sp>
          <p:nvSpPr>
            <p:cNvPr id="4" name="TextBox 7"/>
            <p:cNvSpPr txBox="1"/>
            <p:nvPr/>
          </p:nvSpPr>
          <p:spPr>
            <a:xfrm>
              <a:off x="6665542" y="3103529"/>
              <a:ext cx="4777152" cy="12314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p>
              <a:r>
                <a:rPr lang="en-US" altLang="en-US" sz="4800">
                  <a:sym typeface="+mn-ea"/>
                </a:rPr>
                <a:t>Importance:</a:t>
              </a:r>
              <a:endParaRPr lang="ko-KR" altLang="en-US" sz="4800" b="1" dirty="0"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5" name="TextBox 8"/>
            <p:cNvSpPr txBox="1"/>
            <p:nvPr/>
          </p:nvSpPr>
          <p:spPr>
            <a:xfrm>
              <a:off x="6685861" y="3214710"/>
              <a:ext cx="4776926" cy="171576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p>
              <a:r>
                <a:rPr lang="en-US" altLang="en-US" sz="1865">
                  <a:sym typeface="+mn-ea"/>
                </a:rPr>
                <a:t>Applications in retail, warehouse management, and tracking systems.</a:t>
              </a:r>
              <a:endParaRPr lang="en-US" altLang="en-US" sz="1865"/>
            </a:p>
            <a:p>
              <a:r>
                <a:rPr lang="en-US" altLang="en-US" sz="1865">
                  <a:sym typeface="+mn-ea"/>
                </a:rPr>
                <a:t>Improving the efficiency of automated operations.</a:t>
              </a:r>
              <a:endParaRPr lang="ko-KR" altLang="en-US" sz="1865" dirty="0"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9"/>
          <p:cNvSpPr/>
          <p:nvPr/>
        </p:nvSpPr>
        <p:spPr>
          <a:xfrm>
            <a:off x="634020" y="1671680"/>
            <a:ext cx="2301200" cy="1442000"/>
          </a:xfrm>
          <a:prstGeom prst="rect">
            <a:avLst/>
          </a:prstGeom>
          <a:solidFill>
            <a:srgbClr val="BBA580">
              <a:alpha val="130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sz="2400">
              <a:sym typeface="+mn-ea"/>
            </a:endParaRPr>
          </a:p>
        </p:txBody>
      </p:sp>
      <p:sp>
        <p:nvSpPr>
          <p:cNvPr id="267" name="Google Shape;267;p19"/>
          <p:cNvSpPr txBox="1"/>
          <p:nvPr/>
        </p:nvSpPr>
        <p:spPr>
          <a:xfrm>
            <a:off x="767715" y="1846580"/>
            <a:ext cx="2048510" cy="1045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ko-KR" sz="2400" b="1" dirty="0" err="1">
                <a:solidFill>
                  <a:srgbClr val="877253"/>
                </a:solidFill>
                <a:cs typeface="Arial" panose="020B0604020202020204" pitchFamily="34" charset="0"/>
                <a:sym typeface="+mn-ea"/>
              </a:rPr>
              <a:t>Image Enhancement</a:t>
            </a:r>
            <a:endParaRPr lang="en-US" altLang="ko-KR" sz="2400" b="1" dirty="0" err="1">
              <a:solidFill>
                <a:srgbClr val="877253"/>
              </a:solidFill>
              <a:cs typeface="Arial" panose="020B0604020202020204" pitchFamily="34" charset="0"/>
              <a:sym typeface="+mn-ea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634020" y="4135913"/>
            <a:ext cx="2301200" cy="1442000"/>
          </a:xfrm>
          <a:prstGeom prst="rect">
            <a:avLst/>
          </a:prstGeom>
          <a:solidFill>
            <a:srgbClr val="BBA580">
              <a:alpha val="130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1" name="Google Shape;271;p19"/>
          <p:cNvSpPr txBox="1"/>
          <p:nvPr/>
        </p:nvSpPr>
        <p:spPr>
          <a:xfrm>
            <a:off x="769620" y="4311650"/>
            <a:ext cx="2048510" cy="104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 b="1" dirty="0" err="1">
                <a:solidFill>
                  <a:srgbClr val="877253"/>
                </a:solidFill>
                <a:cs typeface="Arial" panose="020B0604020202020204" pitchFamily="34" charset="0"/>
                <a:sym typeface="+mn-ea"/>
              </a:rPr>
              <a:t>Image Acquisition &amp; Preprocessing</a:t>
            </a:r>
            <a:endParaRPr lang="en-US" altLang="ko-KR" sz="2400" b="1" dirty="0" err="1">
              <a:solidFill>
                <a:srgbClr val="877253"/>
              </a:solidFill>
              <a:latin typeface="Roboto" panose="02000000000000000000"/>
              <a:ea typeface="Roboto" panose="02000000000000000000"/>
              <a:cs typeface="Arial" panose="020B0604020202020204" pitchFamily="34" charset="0"/>
              <a:sym typeface="+mn-ea"/>
            </a:endParaRPr>
          </a:p>
        </p:txBody>
      </p:sp>
      <p:sp>
        <p:nvSpPr>
          <p:cNvPr id="277" name="Google Shape;277;p19"/>
          <p:cNvSpPr/>
          <p:nvPr/>
        </p:nvSpPr>
        <p:spPr>
          <a:xfrm>
            <a:off x="6526570" y="404732"/>
            <a:ext cx="2301200" cy="1442000"/>
          </a:xfrm>
          <a:prstGeom prst="rect">
            <a:avLst/>
          </a:prstGeom>
          <a:solidFill>
            <a:srgbClr val="BBA580">
              <a:alpha val="130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sz="2400">
              <a:sym typeface="+mn-ea"/>
            </a:endParaRPr>
          </a:p>
        </p:txBody>
      </p:sp>
      <p:sp>
        <p:nvSpPr>
          <p:cNvPr id="279" name="Google Shape;279;p19"/>
          <p:cNvSpPr txBox="1"/>
          <p:nvPr/>
        </p:nvSpPr>
        <p:spPr>
          <a:xfrm>
            <a:off x="6614795" y="602615"/>
            <a:ext cx="2125980" cy="101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 b="1" dirty="0" err="1">
                <a:solidFill>
                  <a:srgbClr val="877253"/>
                </a:solidFill>
                <a:cs typeface="Arial" panose="020B0604020202020204" pitchFamily="34" charset="0"/>
                <a:sym typeface="+mn-ea"/>
              </a:rPr>
              <a:t>Morphological Processing</a:t>
            </a:r>
            <a:endParaRPr lang="en-US" altLang="ko-KR" sz="2400" b="1" dirty="0" err="1">
              <a:solidFill>
                <a:srgbClr val="877253"/>
              </a:solidFill>
              <a:cs typeface="Arial" panose="020B0604020202020204" pitchFamily="34" charset="0"/>
              <a:sym typeface="Roboto" panose="02000000000000000000"/>
            </a:endParaRPr>
          </a:p>
        </p:txBody>
      </p:sp>
      <p:sp>
        <p:nvSpPr>
          <p:cNvPr id="281" name="Google Shape;281;p19"/>
          <p:cNvSpPr/>
          <p:nvPr/>
        </p:nvSpPr>
        <p:spPr>
          <a:xfrm>
            <a:off x="9484400" y="4088800"/>
            <a:ext cx="2301200" cy="1442000"/>
          </a:xfrm>
          <a:prstGeom prst="rect">
            <a:avLst/>
          </a:prstGeom>
          <a:solidFill>
            <a:srgbClr val="BBA580">
              <a:alpha val="130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sz="2400">
              <a:sym typeface="+mn-ea"/>
            </a:endParaRPr>
          </a:p>
        </p:txBody>
      </p:sp>
      <p:sp>
        <p:nvSpPr>
          <p:cNvPr id="283" name="Google Shape;283;p19"/>
          <p:cNvSpPr txBox="1"/>
          <p:nvPr/>
        </p:nvSpPr>
        <p:spPr>
          <a:xfrm>
            <a:off x="5281295" y="5304790"/>
            <a:ext cx="1795780" cy="105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cxnSp>
        <p:nvCxnSpPr>
          <p:cNvPr id="287" name="Google Shape;287;p19"/>
          <p:cNvCxnSpPr>
            <a:stCxn id="264" idx="2"/>
            <a:endCxn id="269" idx="0"/>
          </p:cNvCxnSpPr>
          <p:nvPr/>
        </p:nvCxnSpPr>
        <p:spPr>
          <a:xfrm rot="-5400000" flipH="1">
            <a:off x="1273820" y="3624480"/>
            <a:ext cx="1022400" cy="800"/>
          </a:xfrm>
          <a:prstGeom prst="bentConnector3">
            <a:avLst>
              <a:gd name="adj1" fmla="val 4999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264;p19"/>
          <p:cNvSpPr/>
          <p:nvPr/>
        </p:nvSpPr>
        <p:spPr>
          <a:xfrm>
            <a:off x="3565180" y="404855"/>
            <a:ext cx="2301200" cy="1442000"/>
          </a:xfrm>
          <a:prstGeom prst="rect">
            <a:avLst/>
          </a:prstGeom>
          <a:solidFill>
            <a:srgbClr val="BBA580">
              <a:alpha val="130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sz="2400">
              <a:sym typeface="+mn-ea"/>
            </a:endParaRPr>
          </a:p>
        </p:txBody>
      </p:sp>
      <p:sp>
        <p:nvSpPr>
          <p:cNvPr id="3" name="Google Shape;267;p19"/>
          <p:cNvSpPr txBox="1"/>
          <p:nvPr/>
        </p:nvSpPr>
        <p:spPr>
          <a:xfrm>
            <a:off x="3817620" y="602615"/>
            <a:ext cx="1795780" cy="1045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ko-KR" sz="2400" b="1" dirty="0" err="1">
                <a:solidFill>
                  <a:srgbClr val="877253"/>
                </a:solidFill>
                <a:cs typeface="Arial" panose="020B0604020202020204" pitchFamily="34" charset="0"/>
                <a:sym typeface="+mn-ea"/>
              </a:rPr>
              <a:t>Image Restoration</a:t>
            </a:r>
            <a:endParaRPr lang="en-US" altLang="ko-KR" sz="2400" b="1" dirty="0" err="1">
              <a:solidFill>
                <a:srgbClr val="877253"/>
              </a:solidFill>
              <a:cs typeface="Arial" panose="020B0604020202020204" pitchFamily="34" charset="0"/>
              <a:sym typeface="+mn-ea"/>
            </a:endParaRPr>
          </a:p>
        </p:txBody>
      </p:sp>
      <p:sp>
        <p:nvSpPr>
          <p:cNvPr id="4" name="Google Shape;269;p19"/>
          <p:cNvSpPr/>
          <p:nvPr/>
        </p:nvSpPr>
        <p:spPr>
          <a:xfrm>
            <a:off x="5084100" y="5178583"/>
            <a:ext cx="2301200" cy="1442000"/>
          </a:xfrm>
          <a:prstGeom prst="rect">
            <a:avLst/>
          </a:prstGeom>
          <a:solidFill>
            <a:srgbClr val="BBA580">
              <a:alpha val="130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sz="2400">
              <a:sym typeface="+mn-ea"/>
            </a:endParaRPr>
          </a:p>
        </p:txBody>
      </p:sp>
      <p:cxnSp>
        <p:nvCxnSpPr>
          <p:cNvPr id="11" name="Google Shape;289;p19"/>
          <p:cNvCxnSpPr>
            <a:stCxn id="277" idx="1"/>
            <a:endCxn id="2" idx="3"/>
          </p:cNvCxnSpPr>
          <p:nvPr/>
        </p:nvCxnSpPr>
        <p:spPr>
          <a:xfrm rot="10800000" flipV="1">
            <a:off x="5866130" y="1125855"/>
            <a:ext cx="660400" cy="635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Google Shape;273;p19"/>
          <p:cNvSpPr/>
          <p:nvPr/>
        </p:nvSpPr>
        <p:spPr>
          <a:xfrm>
            <a:off x="9488170" y="1695450"/>
            <a:ext cx="2346960" cy="1417955"/>
          </a:xfrm>
          <a:prstGeom prst="rect">
            <a:avLst/>
          </a:prstGeom>
          <a:solidFill>
            <a:srgbClr val="BBA580">
              <a:alpha val="130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sz="2400">
              <a:sym typeface="+mn-ea"/>
            </a:endParaRPr>
          </a:p>
        </p:txBody>
      </p:sp>
      <p:cxnSp>
        <p:nvCxnSpPr>
          <p:cNvPr id="16" name="Google Shape;287;p19"/>
          <p:cNvCxnSpPr>
            <a:stCxn id="2" idx="1"/>
            <a:endCxn id="264" idx="0"/>
          </p:cNvCxnSpPr>
          <p:nvPr/>
        </p:nvCxnSpPr>
        <p:spPr>
          <a:xfrm rot="10800000" flipV="1">
            <a:off x="1784350" y="1126490"/>
            <a:ext cx="1780540" cy="545465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287;p19"/>
          <p:cNvCxnSpPr>
            <a:stCxn id="15" idx="0"/>
            <a:endCxn id="277" idx="3"/>
          </p:cNvCxnSpPr>
          <p:nvPr/>
        </p:nvCxnSpPr>
        <p:spPr>
          <a:xfrm rot="16200000" flipV="1">
            <a:off x="9459913" y="493713"/>
            <a:ext cx="569595" cy="183388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287;p19"/>
          <p:cNvCxnSpPr>
            <a:stCxn id="281" idx="2"/>
            <a:endCxn id="4" idx="3"/>
          </p:cNvCxnSpPr>
          <p:nvPr/>
        </p:nvCxnSpPr>
        <p:spPr>
          <a:xfrm rot="5400000">
            <a:off x="8825548" y="4090353"/>
            <a:ext cx="368935" cy="324993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Google Shape;283;p19"/>
          <p:cNvSpPr txBox="1"/>
          <p:nvPr/>
        </p:nvSpPr>
        <p:spPr>
          <a:xfrm>
            <a:off x="9582785" y="4243705"/>
            <a:ext cx="2095500" cy="105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ko-KR" sz="2400" b="1" dirty="0" err="1">
                <a:solidFill>
                  <a:srgbClr val="877253"/>
                </a:solidFill>
                <a:cs typeface="Arial" panose="020B0604020202020204" pitchFamily="34" charset="0"/>
                <a:sym typeface="+mn-ea"/>
              </a:rPr>
              <a:t>Representaion &amp; Description</a:t>
            </a:r>
            <a:endParaRPr lang="en-US" altLang="ko-KR" sz="2400" b="1" dirty="0" err="1">
              <a:solidFill>
                <a:srgbClr val="877253"/>
              </a:solidFill>
              <a:cs typeface="Arial" panose="020B0604020202020204" pitchFamily="34" charset="0"/>
              <a:sym typeface="Roboto" panose="02000000000000000000"/>
            </a:endParaRPr>
          </a:p>
        </p:txBody>
      </p:sp>
      <p:sp>
        <p:nvSpPr>
          <p:cNvPr id="22" name="Google Shape;283;p19"/>
          <p:cNvSpPr txBox="1"/>
          <p:nvPr/>
        </p:nvSpPr>
        <p:spPr>
          <a:xfrm>
            <a:off x="9608820" y="1849755"/>
            <a:ext cx="2068830" cy="105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 b="1" dirty="0" err="1">
                <a:solidFill>
                  <a:srgbClr val="877253"/>
                </a:solidFill>
                <a:cs typeface="Arial" panose="020B0604020202020204" pitchFamily="34" charset="0"/>
                <a:sym typeface="+mn-ea"/>
              </a:rPr>
              <a:t>Segmentation</a:t>
            </a:r>
            <a:endParaRPr lang="en-US" altLang="ko-KR" sz="2400" b="1" dirty="0" err="1">
              <a:solidFill>
                <a:srgbClr val="877253"/>
              </a:solidFill>
              <a:cs typeface="Arial" panose="020B0604020202020204" pitchFamily="34" charset="0"/>
              <a:sym typeface="Roboto" panose="02000000000000000000"/>
            </a:endParaRPr>
          </a:p>
        </p:txBody>
      </p:sp>
      <p:cxnSp>
        <p:nvCxnSpPr>
          <p:cNvPr id="23" name="Google Shape;287;p19"/>
          <p:cNvCxnSpPr/>
          <p:nvPr/>
        </p:nvCxnSpPr>
        <p:spPr>
          <a:xfrm rot="5400000" flipV="1">
            <a:off x="10139680" y="3590925"/>
            <a:ext cx="996315" cy="635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Google Shape;283;p19"/>
          <p:cNvSpPr txBox="1"/>
          <p:nvPr/>
        </p:nvSpPr>
        <p:spPr>
          <a:xfrm>
            <a:off x="5186680" y="5356860"/>
            <a:ext cx="2095500" cy="105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ko-KR" sz="2400" b="1" dirty="0" err="1">
                <a:solidFill>
                  <a:srgbClr val="877253"/>
                </a:solidFill>
                <a:cs typeface="Arial" panose="020B0604020202020204" pitchFamily="34" charset="0"/>
                <a:sym typeface="+mn-ea"/>
              </a:rPr>
              <a:t>Object Recognition</a:t>
            </a:r>
            <a:endParaRPr lang="en-US" altLang="ko-KR" sz="2400" b="1" dirty="0" err="1">
              <a:solidFill>
                <a:srgbClr val="877253"/>
              </a:solidFill>
              <a:cs typeface="Arial" panose="020B0604020202020204" pitchFamily="34" charset="0"/>
              <a:sym typeface="Roboto" panose="02000000000000000000"/>
            </a:endParaRPr>
          </a:p>
        </p:txBody>
      </p:sp>
      <p:sp>
        <p:nvSpPr>
          <p:cNvPr id="28" name="TextBox 19"/>
          <p:cNvSpPr txBox="1"/>
          <p:nvPr/>
        </p:nvSpPr>
        <p:spPr>
          <a:xfrm>
            <a:off x="4308475" y="2906395"/>
            <a:ext cx="3309620" cy="10147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p>
            <a:r>
              <a:rPr lang="en-US" altLang="en-US" sz="6000" dirty="0">
                <a:solidFill>
                  <a:schemeClr val="tx1"/>
                </a:solidFill>
                <a:cs typeface="Arial" panose="020B0604020202020204" pitchFamily="34" charset="0"/>
              </a:rPr>
              <a:t>Workflow</a:t>
            </a:r>
            <a:endParaRPr lang="en-US" altLang="en-US" sz="60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640715" y="1280795"/>
            <a:ext cx="10788650" cy="4277360"/>
          </a:xfrm>
          <a:prstGeom prst="rect">
            <a:avLst/>
          </a:prstGeom>
          <a:noFill/>
          <a:ln w="63500">
            <a:solidFill>
              <a:srgbClr val="BEA67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ym typeface="+mn-ea"/>
            </a:endParaRPr>
          </a:p>
        </p:txBody>
      </p:sp>
      <p:sp>
        <p:nvSpPr>
          <p:cNvPr id="9" name="TextBox 5"/>
          <p:cNvSpPr txBox="1"/>
          <p:nvPr/>
        </p:nvSpPr>
        <p:spPr>
          <a:xfrm>
            <a:off x="1235710" y="656590"/>
            <a:ext cx="3074035" cy="5521960"/>
          </a:xfrm>
          <a:prstGeom prst="rect">
            <a:avLst/>
          </a:prstGeom>
          <a:solidFill>
            <a:srgbClr val="BEA67F"/>
          </a:solidFill>
          <a:ln>
            <a:solidFill>
              <a:srgbClr val="BEA67F"/>
            </a:solidFill>
          </a:ln>
        </p:spPr>
        <p:txBody>
          <a:bodyPr wrap="square" lIns="36000" tIns="0" rIns="36000" bIns="0" rtlCol="0" anchor="ctr">
            <a:noAutofit/>
          </a:bodyPr>
          <a:p>
            <a:pPr algn="ctr">
              <a:lnSpc>
                <a:spcPts val="3000"/>
              </a:lnSpc>
            </a:pPr>
            <a:r>
              <a:rPr lang="en-US" altLang="en-US" sz="2800">
                <a:solidFill>
                  <a:schemeClr val="bg1"/>
                </a:solidFill>
                <a:sym typeface="+mn-ea"/>
              </a:rPr>
              <a:t>Image Acquisition &amp; Preprocessing </a:t>
            </a:r>
            <a:endParaRPr lang="en-US" altLang="en-US" sz="28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4460240" y="1478280"/>
            <a:ext cx="659384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b="1">
                <a:solidFill>
                  <a:srgbClr val="877253"/>
                </a:solidFill>
              </a:rPr>
              <a:t> - Image Upload:  </a:t>
            </a:r>
            <a:endParaRPr lang="en-US" altLang="en-US" sz="2000" b="1">
              <a:solidFill>
                <a:srgbClr val="877253"/>
              </a:solidFill>
            </a:endParaRPr>
          </a:p>
          <a:p>
            <a:r>
              <a:rPr lang="en-US" altLang="en-US"/>
              <a:t>  - Import image using OpenCV.  </a:t>
            </a:r>
            <a:endParaRPr lang="en-US" altLang="en-US"/>
          </a:p>
          <a:p>
            <a:r>
              <a:rPr lang="en-US" altLang="en-US"/>
              <a:t>  - Display the original image.  </a:t>
            </a:r>
            <a:endParaRPr lang="en-US" altLang="en-US"/>
          </a:p>
          <a:p>
            <a:endParaRPr lang="en-US" altLang="en-US"/>
          </a:p>
          <a:p>
            <a:r>
              <a:rPr lang="en-US" altLang="en-US" sz="2000" b="1">
                <a:solidFill>
                  <a:srgbClr val="877253"/>
                </a:solidFill>
              </a:rPr>
              <a:t>- Grayscale Conversion:  </a:t>
            </a:r>
            <a:endParaRPr lang="en-US" altLang="en-US" sz="2000" b="1">
              <a:solidFill>
                <a:srgbClr val="877253"/>
              </a:solidFill>
            </a:endParaRPr>
          </a:p>
          <a:p>
            <a:r>
              <a:rPr lang="en-US" altLang="en-US"/>
              <a:t>  - Convert RGB to grayscale for simplified processing.  </a:t>
            </a:r>
            <a:endParaRPr lang="en-US" altLang="en-US"/>
          </a:p>
          <a:p>
            <a:endParaRPr lang="en-US" altLang="en-US"/>
          </a:p>
          <a:p>
            <a:r>
              <a:rPr lang="en-US" altLang="en-US" sz="2000" b="1">
                <a:solidFill>
                  <a:srgbClr val="877253"/>
                </a:solidFill>
              </a:rPr>
              <a:t>- Orientation Correction:  </a:t>
            </a:r>
            <a:endParaRPr lang="en-US" altLang="en-US" sz="2000" b="1">
              <a:solidFill>
                <a:srgbClr val="877253"/>
              </a:solidFill>
            </a:endParaRPr>
          </a:p>
          <a:p>
            <a:r>
              <a:rPr lang="en-US" altLang="en-US"/>
              <a:t>  1. Apply binary thresholding + contour detection.  </a:t>
            </a:r>
            <a:endParaRPr lang="en-US" altLang="en-US"/>
          </a:p>
          <a:p>
            <a:r>
              <a:rPr lang="en-US" altLang="en-US"/>
              <a:t>  2. Calculate skew angle via cv2.minAreaRect().  </a:t>
            </a:r>
            <a:endParaRPr lang="en-US" altLang="en-US"/>
          </a:p>
          <a:p>
            <a:r>
              <a:rPr lang="en-US" altLang="en-US"/>
              <a:t>  3. Rotate image if tilted:  </a:t>
            </a:r>
            <a:endParaRPr lang="en-US" altLang="en-US"/>
          </a:p>
          <a:p>
            <a:r>
              <a:rPr lang="en-US" altLang="en-US"/>
              <a:t>     - Angle &lt; -45</a:t>
            </a:r>
            <a:r>
              <a:rPr lang="en-US" altLang="en-US"/>
              <a:t>°</a:t>
            </a:r>
            <a:r>
              <a:rPr lang="en-US" altLang="en-US"/>
              <a:t>: Rotate by 90 + angle.  </a:t>
            </a:r>
            <a:endParaRPr lang="en-US" altLang="en-US"/>
          </a:p>
          <a:p>
            <a:r>
              <a:rPr lang="en-US" altLang="en-US"/>
              <a:t>     - Angle &gt; -45</a:t>
            </a:r>
            <a:r>
              <a:rPr lang="en-US" altLang="en-US"/>
              <a:t>°</a:t>
            </a:r>
            <a:r>
              <a:rPr lang="en-US" altLang="en-US"/>
              <a:t>: Rotate by angle.  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640715" y="1280795"/>
            <a:ext cx="10788650" cy="4277360"/>
          </a:xfrm>
          <a:prstGeom prst="rect">
            <a:avLst/>
          </a:prstGeom>
          <a:noFill/>
          <a:ln w="63500">
            <a:solidFill>
              <a:srgbClr val="BEA67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ym typeface="+mn-ea"/>
            </a:endParaRPr>
          </a:p>
        </p:txBody>
      </p:sp>
      <p:sp>
        <p:nvSpPr>
          <p:cNvPr id="9" name="TextBox 5"/>
          <p:cNvSpPr txBox="1"/>
          <p:nvPr/>
        </p:nvSpPr>
        <p:spPr>
          <a:xfrm>
            <a:off x="1235710" y="656590"/>
            <a:ext cx="3074035" cy="5521960"/>
          </a:xfrm>
          <a:prstGeom prst="rect">
            <a:avLst/>
          </a:prstGeom>
          <a:solidFill>
            <a:srgbClr val="BEA67F"/>
          </a:solidFill>
          <a:ln>
            <a:solidFill>
              <a:srgbClr val="BEA67F"/>
            </a:solidFill>
          </a:ln>
        </p:spPr>
        <p:txBody>
          <a:bodyPr wrap="square" lIns="36000" tIns="0" rIns="36000" bIns="0" rtlCol="0" anchor="ctr">
            <a:noAutofit/>
          </a:bodyPr>
          <a:p>
            <a:pPr algn="ctr">
              <a:lnSpc>
                <a:spcPts val="3000"/>
              </a:lnSpc>
            </a:pPr>
            <a:r>
              <a:rPr lang="en-US" altLang="en-US" sz="3200">
                <a:solidFill>
                  <a:schemeClr val="bg1"/>
                </a:solidFill>
                <a:sym typeface="+mn-ea"/>
              </a:rPr>
              <a:t>Image </a:t>
            </a:r>
            <a:endParaRPr lang="en-US" altLang="en-US" sz="3200">
              <a:solidFill>
                <a:schemeClr val="bg1"/>
              </a:solidFill>
              <a:sym typeface="+mn-ea"/>
            </a:endParaRPr>
          </a:p>
          <a:p>
            <a:pPr algn="ctr">
              <a:lnSpc>
                <a:spcPts val="3000"/>
              </a:lnSpc>
            </a:pPr>
            <a:r>
              <a:rPr lang="en-US" altLang="en-US" sz="3200">
                <a:solidFill>
                  <a:schemeClr val="bg1"/>
                </a:solidFill>
                <a:sym typeface="+mn-ea"/>
              </a:rPr>
              <a:t>Enhancement</a:t>
            </a:r>
            <a:r>
              <a:rPr lang="en-US" altLang="en-US" sz="2800">
                <a:sym typeface="+mn-ea"/>
              </a:rPr>
              <a:t> </a:t>
            </a:r>
            <a:r>
              <a:rPr lang="en-US" altLang="en-US" sz="2800">
                <a:solidFill>
                  <a:schemeClr val="bg1"/>
                </a:solidFill>
                <a:sym typeface="+mn-ea"/>
              </a:rPr>
              <a:t> </a:t>
            </a:r>
            <a:endParaRPr lang="en-US" altLang="en-US" sz="28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4460240" y="2094230"/>
            <a:ext cx="6858000" cy="2646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b="1">
                <a:solidFill>
                  <a:srgbClr val="877253"/>
                </a:solidFill>
              </a:rPr>
              <a:t>- Contrast Improvement:  </a:t>
            </a:r>
            <a:endParaRPr lang="en-US" altLang="en-US" sz="2000" b="1">
              <a:solidFill>
                <a:srgbClr val="877253"/>
              </a:solidFill>
            </a:endParaRPr>
          </a:p>
          <a:p>
            <a:r>
              <a:rPr lang="en-US" altLang="en-US"/>
              <a:t>  - Contrast Stretching: Expand intensity range linearly.  </a:t>
            </a:r>
            <a:endParaRPr lang="en-US" altLang="en-US"/>
          </a:p>
          <a:p>
            <a:r>
              <a:rPr lang="en-US" altLang="en-US"/>
              <a:t>  - Histogram Equalization: Redistribute brightness values.  </a:t>
            </a:r>
            <a:endParaRPr lang="en-US" altLang="en-US"/>
          </a:p>
          <a:p>
            <a:r>
              <a:rPr lang="en-US" altLang="en-US"/>
              <a:t>  - Power-Law Transformation: Adjust gamma </a:t>
            </a:r>
            <a:endParaRPr lang="en-US" altLang="en-US"/>
          </a:p>
          <a:p>
            <a:r>
              <a:rPr lang="en-US" altLang="en-US"/>
              <a:t>     ( </a:t>
            </a:r>
            <a:r>
              <a:rPr lang="zh-CN" altLang="en-US"/>
              <a:t>𝑔</a:t>
            </a:r>
            <a:r>
              <a:rPr lang="en-US" altLang="en-US"/>
              <a:t>(</a:t>
            </a:r>
            <a:r>
              <a:rPr lang="zh-CN" altLang="en-US"/>
              <a:t>𝑥</a:t>
            </a:r>
            <a:r>
              <a:rPr lang="en-US" altLang="en-US"/>
              <a:t>,</a:t>
            </a:r>
            <a:r>
              <a:rPr lang="zh-CN" altLang="en-US"/>
              <a:t>𝑦</a:t>
            </a:r>
            <a:r>
              <a:rPr lang="en-US" altLang="en-US"/>
              <a:t>) = </a:t>
            </a:r>
            <a:r>
              <a:rPr lang="zh-CN" altLang="en-US"/>
              <a:t>𝑐</a:t>
            </a:r>
            <a:r>
              <a:rPr lang="en-US" altLang="en-US"/>
              <a:t>⋅</a:t>
            </a:r>
            <a:r>
              <a:rPr lang="zh-CN" altLang="en-US"/>
              <a:t>𝑓</a:t>
            </a:r>
            <a:r>
              <a:rPr lang="en-US" altLang="en-US"/>
              <a:t>(</a:t>
            </a:r>
            <a:r>
              <a:rPr lang="zh-CN" altLang="en-US"/>
              <a:t>𝑥</a:t>
            </a:r>
            <a:r>
              <a:rPr lang="en-US" altLang="en-US"/>
              <a:t>,</a:t>
            </a:r>
            <a:r>
              <a:rPr lang="zh-CN" altLang="en-US"/>
              <a:t>𝑦</a:t>
            </a:r>
            <a:r>
              <a:rPr lang="en-US" altLang="en-US"/>
              <a:t>)^</a:t>
            </a:r>
            <a:r>
              <a:rPr lang="zh-CN" altLang="en-US"/>
              <a:t>𝛾</a:t>
            </a:r>
            <a:r>
              <a:rPr lang="en-US" altLang="en-US"/>
              <a:t>).  </a:t>
            </a:r>
            <a:endParaRPr lang="en-US" altLang="en-US"/>
          </a:p>
          <a:p>
            <a:endParaRPr lang="en-US" altLang="en-US"/>
          </a:p>
          <a:p>
            <a:r>
              <a:rPr lang="en-US" altLang="en-US" sz="2000" b="1">
                <a:solidFill>
                  <a:srgbClr val="877253"/>
                </a:solidFill>
              </a:rPr>
              <a:t>- Edge Enhancement:  </a:t>
            </a:r>
            <a:r>
              <a:rPr lang="en-US" altLang="en-US"/>
              <a:t>  </a:t>
            </a:r>
            <a:endParaRPr lang="en-US" altLang="en-US"/>
          </a:p>
          <a:p>
            <a:r>
              <a:rPr lang="en-US" altLang="en-US"/>
              <a:t>  - High-Boost Filter: </a:t>
            </a:r>
            <a:r>
              <a:rPr lang="en-US" altLang="en-US">
                <a:sym typeface="+mn-ea"/>
              </a:rPr>
              <a:t>Sharpen edges via second derivatives and a</a:t>
            </a:r>
            <a:r>
              <a:rPr lang="en-US" altLang="en-US"/>
              <a:t>mplify </a:t>
            </a:r>
            <a:r>
              <a:rPr lang="en-US" altLang="en-US">
                <a:sym typeface="+mn-ea"/>
              </a:rPr>
              <a:t>                                                                                                                                  </a:t>
            </a:r>
            <a:endParaRPr lang="en-US" altLang="en-US"/>
          </a:p>
          <a:p>
            <a:r>
              <a:rPr lang="en-US" altLang="en-US">
                <a:sym typeface="+mn-ea"/>
              </a:rPr>
              <a:t>     </a:t>
            </a:r>
            <a:r>
              <a:rPr lang="en-US" altLang="en-US"/>
              <a:t>fine details ( A = 1.7 ).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640715" y="1280795"/>
            <a:ext cx="10788650" cy="4277360"/>
          </a:xfrm>
          <a:prstGeom prst="rect">
            <a:avLst/>
          </a:prstGeom>
          <a:noFill/>
          <a:ln w="63500">
            <a:solidFill>
              <a:srgbClr val="BEA67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ym typeface="+mn-ea"/>
            </a:endParaRPr>
          </a:p>
        </p:txBody>
      </p:sp>
      <p:sp>
        <p:nvSpPr>
          <p:cNvPr id="9" name="TextBox 5"/>
          <p:cNvSpPr txBox="1"/>
          <p:nvPr/>
        </p:nvSpPr>
        <p:spPr>
          <a:xfrm>
            <a:off x="1235710" y="656590"/>
            <a:ext cx="3074035" cy="5521960"/>
          </a:xfrm>
          <a:prstGeom prst="rect">
            <a:avLst/>
          </a:prstGeom>
          <a:solidFill>
            <a:srgbClr val="BEA67F"/>
          </a:solidFill>
          <a:ln>
            <a:solidFill>
              <a:srgbClr val="BEA67F"/>
            </a:solidFill>
          </a:ln>
        </p:spPr>
        <p:txBody>
          <a:bodyPr wrap="square" lIns="36000" tIns="0" rIns="36000" bIns="0" rtlCol="0" anchor="ctr">
            <a:noAutofit/>
          </a:bodyPr>
          <a:p>
            <a:pPr algn="ctr">
              <a:lnSpc>
                <a:spcPts val="3000"/>
              </a:lnSpc>
            </a:pPr>
            <a:r>
              <a:rPr lang="en-US" altLang="en-US" sz="3200">
                <a:solidFill>
                  <a:schemeClr val="bg1"/>
                </a:solidFill>
                <a:sym typeface="+mn-ea"/>
              </a:rPr>
              <a:t>Image </a:t>
            </a:r>
            <a:endParaRPr lang="en-US" altLang="en-US" sz="3200">
              <a:solidFill>
                <a:schemeClr val="bg1"/>
              </a:solidFill>
              <a:sym typeface="+mn-ea"/>
            </a:endParaRPr>
          </a:p>
          <a:p>
            <a:pPr algn="ctr">
              <a:lnSpc>
                <a:spcPts val="3000"/>
              </a:lnSpc>
            </a:pPr>
            <a:r>
              <a:rPr lang="en-US" altLang="en-US" sz="3200">
                <a:solidFill>
                  <a:schemeClr val="bg1"/>
                </a:solidFill>
                <a:sym typeface="+mn-ea"/>
              </a:rPr>
              <a:t>Restoration</a:t>
            </a:r>
            <a:r>
              <a:rPr lang="en-US" altLang="en-US" sz="2800">
                <a:solidFill>
                  <a:schemeClr val="bg1"/>
                </a:solidFill>
                <a:sym typeface="+mn-ea"/>
              </a:rPr>
              <a:t> </a:t>
            </a:r>
            <a:endParaRPr lang="en-US" altLang="en-US" sz="28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4460240" y="1691005"/>
            <a:ext cx="6593840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b="1">
                <a:solidFill>
                  <a:srgbClr val="877253"/>
                </a:solidFill>
              </a:rPr>
              <a:t>- Random Noise Removal:  </a:t>
            </a:r>
            <a:endParaRPr lang="en-US" altLang="en-US" sz="2000" b="1">
              <a:solidFill>
                <a:srgbClr val="877253"/>
              </a:solidFill>
            </a:endParaRPr>
          </a:p>
          <a:p>
            <a:r>
              <a:rPr lang="en-US" altLang="en-US"/>
              <a:t>  - Median Filter: Eliminate salt-and-pepper noise (3×3 window).  </a:t>
            </a:r>
            <a:endParaRPr lang="en-US" altLang="en-US"/>
          </a:p>
          <a:p>
            <a:r>
              <a:rPr lang="en-US" altLang="en-US"/>
              <a:t>  - Gaussian Low-Pass Filter:</a:t>
            </a:r>
            <a:endParaRPr lang="en-US" altLang="en-US"/>
          </a:p>
          <a:p>
            <a:r>
              <a:rPr lang="en-US" altLang="en-US"/>
              <a:t>      1. </a:t>
            </a:r>
            <a:r>
              <a:rPr lang="en-US" altLang="en-US">
                <a:sym typeface="+mn-ea"/>
              </a:rPr>
              <a:t>Convert to frequency domain (2D-DFT). </a:t>
            </a:r>
            <a:endParaRPr lang="en-US" altLang="en-US">
              <a:sym typeface="+mn-ea"/>
            </a:endParaRPr>
          </a:p>
          <a:p>
            <a:r>
              <a:rPr lang="en-US" altLang="en-US">
                <a:sym typeface="+mn-ea"/>
              </a:rPr>
              <a:t>      </a:t>
            </a:r>
            <a:r>
              <a:rPr lang="en-US" altLang="en-US"/>
              <a:t>2. </a:t>
            </a:r>
            <a:r>
              <a:rPr lang="en-US" altLang="en-US">
                <a:sym typeface="+mn-ea"/>
              </a:rPr>
              <a:t>Apply </a:t>
            </a:r>
            <a:r>
              <a:rPr lang="en-US" altLang="en-US">
                <a:sym typeface="+mn-ea"/>
              </a:rPr>
              <a:t>Gaussian Low-Pass Filter to remove random noise. </a:t>
            </a:r>
            <a:endParaRPr lang="en-US" altLang="en-US">
              <a:sym typeface="+mn-ea"/>
            </a:endParaRPr>
          </a:p>
          <a:p>
            <a:r>
              <a:rPr lang="en-US" altLang="en-US">
                <a:sym typeface="+mn-ea"/>
              </a:rPr>
              <a:t>      </a:t>
            </a:r>
            <a:r>
              <a:rPr lang="en-US" altLang="en-US"/>
              <a:t>3. </a:t>
            </a:r>
            <a:r>
              <a:rPr lang="en-US" altLang="en-US">
                <a:sym typeface="+mn-ea"/>
              </a:rPr>
              <a:t>Reconstruct image via inverse DFT.  </a:t>
            </a:r>
            <a:endParaRPr lang="en-US" altLang="en-US"/>
          </a:p>
          <a:p>
            <a:endParaRPr lang="en-US" altLang="en-US"/>
          </a:p>
          <a:p>
            <a:r>
              <a:rPr lang="en-US" altLang="en-US" sz="2000" b="1">
                <a:solidFill>
                  <a:srgbClr val="877253"/>
                </a:solidFill>
              </a:rPr>
              <a:t>- Frequency Noise Removal:  </a:t>
            </a:r>
            <a:endParaRPr lang="en-US" altLang="en-US" sz="2000" b="1">
              <a:solidFill>
                <a:srgbClr val="877253"/>
              </a:solidFill>
            </a:endParaRPr>
          </a:p>
          <a:p>
            <a:r>
              <a:rPr lang="en-US" altLang="en-US" sz="1800">
                <a:sym typeface="+mn-ea"/>
              </a:rPr>
              <a:t>  - Notch Reject Filter:</a:t>
            </a:r>
            <a:endParaRPr lang="en-US" altLang="en-US" sz="1800">
              <a:sym typeface="+mn-ea"/>
            </a:endParaRPr>
          </a:p>
          <a:p>
            <a:r>
              <a:rPr lang="en-US" altLang="en-US"/>
              <a:t>      1. Convert to frequency domain (2D-DFT).  </a:t>
            </a:r>
            <a:endParaRPr lang="en-US" altLang="en-US"/>
          </a:p>
          <a:p>
            <a:r>
              <a:rPr lang="en-US" altLang="en-US"/>
              <a:t>      2. Apply Notch Reject Filter to remove periodic noise.  </a:t>
            </a:r>
            <a:endParaRPr lang="en-US" altLang="en-US"/>
          </a:p>
          <a:p>
            <a:r>
              <a:rPr lang="en-US" altLang="en-US"/>
              <a:t>      3. Reconstruct image via inverse DFT.  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640715" y="1280795"/>
            <a:ext cx="10788650" cy="4277360"/>
          </a:xfrm>
          <a:prstGeom prst="rect">
            <a:avLst/>
          </a:prstGeom>
          <a:noFill/>
          <a:ln w="63500">
            <a:solidFill>
              <a:srgbClr val="BEA67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ym typeface="+mn-ea"/>
            </a:endParaRPr>
          </a:p>
        </p:txBody>
      </p:sp>
      <p:sp>
        <p:nvSpPr>
          <p:cNvPr id="9" name="TextBox 5"/>
          <p:cNvSpPr txBox="1"/>
          <p:nvPr/>
        </p:nvSpPr>
        <p:spPr>
          <a:xfrm>
            <a:off x="1235710" y="656590"/>
            <a:ext cx="3074035" cy="5521960"/>
          </a:xfrm>
          <a:prstGeom prst="rect">
            <a:avLst/>
          </a:prstGeom>
          <a:solidFill>
            <a:srgbClr val="BEA67F"/>
          </a:solidFill>
          <a:ln>
            <a:solidFill>
              <a:srgbClr val="BEA67F"/>
            </a:solidFill>
          </a:ln>
        </p:spPr>
        <p:txBody>
          <a:bodyPr wrap="square" lIns="36000" tIns="0" rIns="36000" bIns="0" rtlCol="0" anchor="ctr">
            <a:noAutofit/>
          </a:bodyPr>
          <a:p>
            <a:pPr algn="ctr">
              <a:lnSpc>
                <a:spcPts val="3000"/>
              </a:lnSpc>
            </a:pPr>
            <a:r>
              <a:rPr lang="en-US" altLang="en-US" sz="3200">
                <a:solidFill>
                  <a:schemeClr val="bg1"/>
                </a:solidFill>
                <a:sym typeface="+mn-ea"/>
              </a:rPr>
              <a:t>Morphological Processing</a:t>
            </a:r>
            <a:endParaRPr lang="en-US" altLang="en-US" sz="32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4460240" y="1952625"/>
            <a:ext cx="6593840" cy="2953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b="1">
                <a:solidFill>
                  <a:srgbClr val="877253"/>
                </a:solidFill>
              </a:rPr>
              <a:t>- Closing Operation:  </a:t>
            </a:r>
            <a:endParaRPr lang="en-US" altLang="en-US" sz="2000" b="1">
              <a:solidFill>
                <a:srgbClr val="877253"/>
              </a:solidFill>
            </a:endParaRPr>
          </a:p>
          <a:p>
            <a:r>
              <a:rPr lang="en-US" altLang="en-US"/>
              <a:t>  - Fill gaps in barcode lines (Dilation → Erosion with 3×1 kernel).  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 sz="2000" b="1">
                <a:solidFill>
                  <a:srgbClr val="877253"/>
                </a:solidFill>
              </a:rPr>
              <a:t>- Opening Operation:  </a:t>
            </a:r>
            <a:endParaRPr lang="en-US" altLang="en-US" sz="2000" b="1">
              <a:solidFill>
                <a:srgbClr val="877253"/>
              </a:solidFill>
            </a:endParaRPr>
          </a:p>
          <a:p>
            <a:r>
              <a:rPr lang="en-US" altLang="en-US"/>
              <a:t>  - Remove external noise (Erosion → Dilation with 3×3 kernel).  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 sz="2000" b="1">
                <a:solidFill>
                  <a:srgbClr val="877253"/>
                </a:solidFill>
              </a:rPr>
              <a:t>- Thinning:  </a:t>
            </a:r>
            <a:endParaRPr lang="en-US" altLang="en-US" sz="2000" b="1">
              <a:solidFill>
                <a:srgbClr val="877253"/>
              </a:solidFill>
            </a:endParaRPr>
          </a:p>
          <a:p>
            <a:r>
              <a:rPr lang="en-US" altLang="en-US"/>
              <a:t>  - Achieve uniform line thickness using hit-or-miss transform.  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640715" y="1280795"/>
            <a:ext cx="10788650" cy="4277360"/>
          </a:xfrm>
          <a:prstGeom prst="rect">
            <a:avLst/>
          </a:prstGeom>
          <a:noFill/>
          <a:ln w="63500">
            <a:solidFill>
              <a:srgbClr val="BEA67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ym typeface="+mn-ea"/>
            </a:endParaRPr>
          </a:p>
        </p:txBody>
      </p:sp>
      <p:sp>
        <p:nvSpPr>
          <p:cNvPr id="9" name="TextBox 5"/>
          <p:cNvSpPr txBox="1"/>
          <p:nvPr/>
        </p:nvSpPr>
        <p:spPr>
          <a:xfrm>
            <a:off x="1235710" y="656590"/>
            <a:ext cx="3074035" cy="5521960"/>
          </a:xfrm>
          <a:prstGeom prst="rect">
            <a:avLst/>
          </a:prstGeom>
          <a:solidFill>
            <a:srgbClr val="BEA67F"/>
          </a:solidFill>
          <a:ln>
            <a:solidFill>
              <a:srgbClr val="BEA67F"/>
            </a:solidFill>
          </a:ln>
        </p:spPr>
        <p:txBody>
          <a:bodyPr wrap="square" lIns="36000" tIns="0" rIns="36000" bIns="0" rtlCol="0" anchor="ctr">
            <a:noAutofit/>
          </a:bodyPr>
          <a:p>
            <a:pPr algn="ctr">
              <a:lnSpc>
                <a:spcPts val="3000"/>
              </a:lnSpc>
            </a:pPr>
            <a:r>
              <a:rPr lang="en-US" altLang="en-US" sz="3200">
                <a:solidFill>
                  <a:schemeClr val="bg1"/>
                </a:solidFill>
                <a:sym typeface="+mn-ea"/>
              </a:rPr>
              <a:t>Segmentation</a:t>
            </a:r>
            <a:endParaRPr lang="en-US" altLang="en-US" sz="32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4460240" y="2383155"/>
            <a:ext cx="6593840" cy="20916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b="1">
                <a:solidFill>
                  <a:srgbClr val="877253"/>
                </a:solidFill>
              </a:rPr>
              <a:t>- Contour Detection:  </a:t>
            </a:r>
            <a:endParaRPr lang="en-US" altLang="en-US" sz="2000" b="1">
              <a:solidFill>
                <a:srgbClr val="877253"/>
              </a:solidFill>
            </a:endParaRPr>
          </a:p>
          <a:p>
            <a:r>
              <a:rPr lang="en-US" altLang="en-US"/>
              <a:t>  - Identify potential barcode regions using adaptive thresholding.  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 sz="2000" b="1">
                <a:solidFill>
                  <a:srgbClr val="877253"/>
                </a:solidFill>
              </a:rPr>
              <a:t>- Barcode Extraction:  </a:t>
            </a:r>
            <a:endParaRPr lang="en-US" altLang="en-US" sz="2000" b="1">
              <a:solidFill>
                <a:srgbClr val="877253"/>
              </a:solidFill>
            </a:endParaRPr>
          </a:p>
          <a:p>
            <a:r>
              <a:rPr lang="en-US" altLang="en-US"/>
              <a:t>  - Select the largest rectangular contour.  </a:t>
            </a:r>
            <a:endParaRPr lang="en-US" altLang="en-US"/>
          </a:p>
          <a:p>
            <a:r>
              <a:rPr lang="en-US" altLang="en-US"/>
              <a:t>  - Crop the bounding box around the barcode.  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640715" y="1280795"/>
            <a:ext cx="10788650" cy="4277360"/>
          </a:xfrm>
          <a:prstGeom prst="rect">
            <a:avLst/>
          </a:prstGeom>
          <a:noFill/>
          <a:ln w="63500">
            <a:solidFill>
              <a:srgbClr val="BEA67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ym typeface="+mn-ea"/>
            </a:endParaRPr>
          </a:p>
        </p:txBody>
      </p:sp>
      <p:sp>
        <p:nvSpPr>
          <p:cNvPr id="9" name="TextBox 5"/>
          <p:cNvSpPr txBox="1"/>
          <p:nvPr/>
        </p:nvSpPr>
        <p:spPr>
          <a:xfrm>
            <a:off x="1235710" y="656590"/>
            <a:ext cx="3074035" cy="5521960"/>
          </a:xfrm>
          <a:prstGeom prst="rect">
            <a:avLst/>
          </a:prstGeom>
          <a:solidFill>
            <a:srgbClr val="BEA67F"/>
          </a:solidFill>
          <a:ln>
            <a:solidFill>
              <a:srgbClr val="BEA67F"/>
            </a:solidFill>
          </a:ln>
        </p:spPr>
        <p:txBody>
          <a:bodyPr wrap="square" lIns="36000" tIns="0" rIns="36000" bIns="0" rtlCol="0" anchor="ctr">
            <a:noAutofit/>
          </a:bodyPr>
          <a:p>
            <a:pPr algn="ctr">
              <a:lnSpc>
                <a:spcPts val="3000"/>
              </a:lnSpc>
            </a:pPr>
            <a:r>
              <a:rPr lang="en-US" altLang="en-US" sz="3200">
                <a:solidFill>
                  <a:schemeClr val="bg1"/>
                </a:solidFill>
                <a:sym typeface="+mn-ea"/>
              </a:rPr>
              <a:t> Representation &amp; Description</a:t>
            </a:r>
            <a:endParaRPr lang="en-US" altLang="en-US" sz="32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4460240" y="2275840"/>
            <a:ext cx="6593840" cy="24301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b="1">
                <a:solidFill>
                  <a:srgbClr val="877253"/>
                </a:solidFill>
              </a:rPr>
              <a:t>- Binarization:  </a:t>
            </a:r>
            <a:endParaRPr lang="en-US" altLang="en-US" sz="2000" b="1">
              <a:solidFill>
                <a:srgbClr val="877253"/>
              </a:solidFill>
            </a:endParaRPr>
          </a:p>
          <a:p>
            <a:r>
              <a:rPr lang="en-US" altLang="en-US"/>
              <a:t>  - Apply Otsu’s thresholding for black/white conversion.   </a:t>
            </a:r>
            <a:endParaRPr lang="en-US" altLang="en-US"/>
          </a:p>
          <a:p>
            <a:endParaRPr lang="en-US" altLang="en-US" sz="2000" b="1">
              <a:solidFill>
                <a:srgbClr val="877253"/>
              </a:solidFill>
            </a:endParaRPr>
          </a:p>
          <a:p>
            <a:endParaRPr lang="en-US" altLang="en-US" sz="2000" b="1">
              <a:solidFill>
                <a:srgbClr val="877253"/>
              </a:solidFill>
            </a:endParaRPr>
          </a:p>
          <a:p>
            <a:r>
              <a:rPr lang="en-US" altLang="en-US" sz="2000" b="1">
                <a:solidFill>
                  <a:srgbClr val="877253"/>
                </a:solidFill>
              </a:rPr>
              <a:t>- Edge Validation:  </a:t>
            </a:r>
            <a:endParaRPr lang="en-US" altLang="en-US" sz="2000" b="1">
              <a:solidFill>
                <a:srgbClr val="877253"/>
              </a:solidFill>
            </a:endParaRPr>
          </a:p>
          <a:p>
            <a:r>
              <a:rPr lang="en-US" altLang="en-US"/>
              <a:t>  - Verify barcode integrity via edge detection :</a:t>
            </a:r>
            <a:endParaRPr lang="en-US" altLang="en-US"/>
          </a:p>
          <a:p>
            <a:pPr indent="457200"/>
            <a:r>
              <a:rPr lang="en-US" altLang="en-US">
                <a:sym typeface="+mn-ea"/>
              </a:rPr>
              <a:t>- Sobel Filter: Detect vertical/horizontal edges by applying    </a:t>
            </a:r>
            <a:endParaRPr lang="en-US" altLang="en-US"/>
          </a:p>
          <a:p>
            <a:pPr indent="457200"/>
            <a:r>
              <a:rPr lang="en-US" altLang="en-US">
                <a:sym typeface="+mn-ea"/>
              </a:rPr>
              <a:t>    </a:t>
            </a:r>
            <a:r>
              <a:rPr lang="en-US" altLang="en-US">
                <a:sym typeface="+mn-ea"/>
              </a:rPr>
              <a:t>horizontal and vertical sobel filters, then combint the resluts.</a:t>
            </a:r>
            <a:r>
              <a:rPr lang="en-US" altLang="en-US"/>
              <a:t> 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640715" y="1280795"/>
            <a:ext cx="10788650" cy="4277360"/>
          </a:xfrm>
          <a:prstGeom prst="rect">
            <a:avLst/>
          </a:prstGeom>
          <a:noFill/>
          <a:ln w="63500">
            <a:solidFill>
              <a:srgbClr val="BEA67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ym typeface="+mn-ea"/>
            </a:endParaRPr>
          </a:p>
        </p:txBody>
      </p:sp>
      <p:sp>
        <p:nvSpPr>
          <p:cNvPr id="9" name="TextBox 5"/>
          <p:cNvSpPr txBox="1"/>
          <p:nvPr/>
        </p:nvSpPr>
        <p:spPr>
          <a:xfrm>
            <a:off x="1235710" y="656590"/>
            <a:ext cx="3074035" cy="5521960"/>
          </a:xfrm>
          <a:prstGeom prst="rect">
            <a:avLst/>
          </a:prstGeom>
          <a:solidFill>
            <a:srgbClr val="BEA67F"/>
          </a:solidFill>
          <a:ln>
            <a:solidFill>
              <a:srgbClr val="BEA67F"/>
            </a:solidFill>
          </a:ln>
        </p:spPr>
        <p:txBody>
          <a:bodyPr wrap="square" lIns="36000" tIns="0" rIns="36000" bIns="0" rtlCol="0" anchor="ctr">
            <a:noAutofit/>
          </a:bodyPr>
          <a:p>
            <a:pPr algn="ctr">
              <a:lnSpc>
                <a:spcPts val="3000"/>
              </a:lnSpc>
            </a:pPr>
            <a:r>
              <a:rPr lang="en-US" altLang="en-US" sz="3200">
                <a:solidFill>
                  <a:schemeClr val="bg1"/>
                </a:solidFill>
                <a:sym typeface="+mn-ea"/>
              </a:rPr>
              <a:t>Object Recognition </a:t>
            </a:r>
            <a:endParaRPr lang="en-US" altLang="en-US" sz="32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4460240" y="2814320"/>
            <a:ext cx="6593840" cy="1229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b="1">
                <a:solidFill>
                  <a:srgbClr val="877253"/>
                </a:solidFill>
              </a:rPr>
              <a:t>- Barcode Decoding:  </a:t>
            </a:r>
            <a:endParaRPr lang="en-US" altLang="en-US" sz="2000" b="1">
              <a:solidFill>
                <a:srgbClr val="877253"/>
              </a:solidFill>
            </a:endParaRPr>
          </a:p>
          <a:p>
            <a:r>
              <a:rPr lang="en-US" altLang="en-US"/>
              <a:t>  - Use pyzbar/pylibdmtx libraries to:  </a:t>
            </a:r>
            <a:endParaRPr lang="en-US" altLang="en-US"/>
          </a:p>
          <a:p>
            <a:r>
              <a:rPr lang="en-US" altLang="en-US"/>
              <a:t>     - Identify type (UPC, QR, EAN, etc.).  </a:t>
            </a:r>
            <a:endParaRPr lang="en-US" altLang="en-US"/>
          </a:p>
          <a:p>
            <a:r>
              <a:rPr lang="en-US" altLang="en-US"/>
              <a:t>     - Extract encoded numerical/text data.  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FBA9B"/>
            </a:gs>
            <a:gs pos="100000">
              <a:srgbClr val="847054"/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650537"/>
            <a:ext cx="12192000" cy="9952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5865" dirty="0">
                <a:solidFill>
                  <a:schemeClr val="bg1"/>
                </a:solidFill>
                <a:cs typeface="Arial" panose="020B0604020202020204" pitchFamily="34" charset="0"/>
              </a:rPr>
              <a:t>Thank You</a:t>
            </a:r>
            <a:endParaRPr lang="ko-KR" altLang="en-US" sz="5865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2229738" y="716481"/>
            <a:ext cx="7803176" cy="4876117"/>
            <a:chOff x="2229738" y="716481"/>
            <a:chExt cx="7803176" cy="4876117"/>
          </a:xfrm>
        </p:grpSpPr>
        <p:sp>
          <p:nvSpPr>
            <p:cNvPr id="13" name="Freeform: Shape 12"/>
            <p:cNvSpPr/>
            <p:nvPr/>
          </p:nvSpPr>
          <p:spPr>
            <a:xfrm rot="10800000">
              <a:off x="3609975" y="3756839"/>
              <a:ext cx="4972050" cy="1445239"/>
            </a:xfrm>
            <a:custGeom>
              <a:avLst/>
              <a:gdLst>
                <a:gd name="connsiteX0" fmla="*/ 0 w 4972050"/>
                <a:gd name="connsiteY0" fmla="*/ 0 h 1445239"/>
                <a:gd name="connsiteX1" fmla="*/ 4972050 w 4972050"/>
                <a:gd name="connsiteY1" fmla="*/ 0 h 1445239"/>
                <a:gd name="connsiteX2" fmla="*/ 4972050 w 4972050"/>
                <a:gd name="connsiteY2" fmla="*/ 1445239 h 1445239"/>
                <a:gd name="connsiteX3" fmla="*/ 4846713 w 4972050"/>
                <a:gd name="connsiteY3" fmla="*/ 1445239 h 1445239"/>
                <a:gd name="connsiteX4" fmla="*/ 4846713 w 4972050"/>
                <a:gd name="connsiteY4" fmla="*/ 125337 h 1445239"/>
                <a:gd name="connsiteX5" fmla="*/ 125337 w 4972050"/>
                <a:gd name="connsiteY5" fmla="*/ 125337 h 1445239"/>
                <a:gd name="connsiteX6" fmla="*/ 125337 w 4972050"/>
                <a:gd name="connsiteY6" fmla="*/ 1445239 h 1445239"/>
                <a:gd name="connsiteX7" fmla="*/ 0 w 4972050"/>
                <a:gd name="connsiteY7" fmla="*/ 1445239 h 144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72050" h="1445239">
                  <a:moveTo>
                    <a:pt x="0" y="0"/>
                  </a:moveTo>
                  <a:lnTo>
                    <a:pt x="4972050" y="0"/>
                  </a:lnTo>
                  <a:lnTo>
                    <a:pt x="4972050" y="1445239"/>
                  </a:lnTo>
                  <a:lnTo>
                    <a:pt x="4846713" y="1445239"/>
                  </a:lnTo>
                  <a:lnTo>
                    <a:pt x="4846713" y="125337"/>
                  </a:lnTo>
                  <a:lnTo>
                    <a:pt x="125337" y="125337"/>
                  </a:lnTo>
                  <a:lnTo>
                    <a:pt x="125337" y="1445239"/>
                  </a:lnTo>
                  <a:lnTo>
                    <a:pt x="0" y="14452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grpSp>
          <p:nvGrpSpPr>
            <p:cNvPr id="14" name="Group 13"/>
            <p:cNvGrpSpPr/>
            <p:nvPr/>
          </p:nvGrpSpPr>
          <p:grpSpPr>
            <a:xfrm>
              <a:off x="2229738" y="716481"/>
              <a:ext cx="7803176" cy="4876117"/>
              <a:chOff x="2229738" y="716481"/>
              <a:chExt cx="7803176" cy="4876117"/>
            </a:xfrm>
          </p:grpSpPr>
          <p:sp>
            <p:nvSpPr>
              <p:cNvPr id="15" name="Freeform: Shape 14"/>
              <p:cNvSpPr/>
              <p:nvPr/>
            </p:nvSpPr>
            <p:spPr>
              <a:xfrm>
                <a:off x="3609975" y="1232742"/>
                <a:ext cx="4972050" cy="1445239"/>
              </a:xfrm>
              <a:custGeom>
                <a:avLst/>
                <a:gdLst>
                  <a:gd name="connsiteX0" fmla="*/ 0 w 4972050"/>
                  <a:gd name="connsiteY0" fmla="*/ 0 h 1445239"/>
                  <a:gd name="connsiteX1" fmla="*/ 4972050 w 4972050"/>
                  <a:gd name="connsiteY1" fmla="*/ 0 h 1445239"/>
                  <a:gd name="connsiteX2" fmla="*/ 4972050 w 4972050"/>
                  <a:gd name="connsiteY2" fmla="*/ 1445239 h 1445239"/>
                  <a:gd name="connsiteX3" fmla="*/ 4846713 w 4972050"/>
                  <a:gd name="connsiteY3" fmla="*/ 1445239 h 1445239"/>
                  <a:gd name="connsiteX4" fmla="*/ 4846713 w 4972050"/>
                  <a:gd name="connsiteY4" fmla="*/ 125337 h 1445239"/>
                  <a:gd name="connsiteX5" fmla="*/ 125337 w 4972050"/>
                  <a:gd name="connsiteY5" fmla="*/ 125337 h 1445239"/>
                  <a:gd name="connsiteX6" fmla="*/ 125337 w 4972050"/>
                  <a:gd name="connsiteY6" fmla="*/ 1445239 h 1445239"/>
                  <a:gd name="connsiteX7" fmla="*/ 0 w 4972050"/>
                  <a:gd name="connsiteY7" fmla="*/ 1445239 h 144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972050" h="1445239">
                    <a:moveTo>
                      <a:pt x="0" y="0"/>
                    </a:moveTo>
                    <a:lnTo>
                      <a:pt x="4972050" y="0"/>
                    </a:lnTo>
                    <a:lnTo>
                      <a:pt x="4972050" y="1445239"/>
                    </a:lnTo>
                    <a:lnTo>
                      <a:pt x="4846713" y="1445239"/>
                    </a:lnTo>
                    <a:lnTo>
                      <a:pt x="4846713" y="125337"/>
                    </a:lnTo>
                    <a:lnTo>
                      <a:pt x="125337" y="125337"/>
                    </a:lnTo>
                    <a:lnTo>
                      <a:pt x="125337" y="1445239"/>
                    </a:lnTo>
                    <a:lnTo>
                      <a:pt x="0" y="144523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Rectangle 15"/>
              <p:cNvSpPr/>
              <p:nvPr/>
            </p:nvSpPr>
            <p:spPr>
              <a:xfrm rot="2735247">
                <a:off x="8529637" y="490381"/>
                <a:ext cx="104775" cy="144523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Rectangle 16"/>
              <p:cNvSpPr/>
              <p:nvPr/>
            </p:nvSpPr>
            <p:spPr>
              <a:xfrm rot="2735247">
                <a:off x="3452813" y="4544899"/>
                <a:ext cx="104775" cy="144523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Rectangle 17"/>
              <p:cNvSpPr/>
              <p:nvPr/>
            </p:nvSpPr>
            <p:spPr>
              <a:xfrm rot="2735247">
                <a:off x="9257907" y="46249"/>
                <a:ext cx="104775" cy="1445239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Rectangle 18"/>
              <p:cNvSpPr/>
              <p:nvPr/>
            </p:nvSpPr>
            <p:spPr>
              <a:xfrm rot="2735247">
                <a:off x="2899970" y="4817591"/>
                <a:ext cx="104775" cy="1445239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ABSTRACT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9D155"/>
      </a:accent1>
      <a:accent2>
        <a:srgbClr val="A5A5A5"/>
      </a:accent2>
      <a:accent3>
        <a:srgbClr val="595959"/>
      </a:accent3>
      <a:accent4>
        <a:srgbClr val="568AD3"/>
      </a:accent4>
      <a:accent5>
        <a:srgbClr val="A5A5A5"/>
      </a:accent5>
      <a:accent6>
        <a:srgbClr val="595959"/>
      </a:accent6>
      <a:hlink>
        <a:srgbClr val="FFFFFF"/>
      </a:hlink>
      <a:folHlink>
        <a:srgbClr val="FFFFFF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ver and End Slide Master">
  <a:themeElements>
    <a:clrScheme name="abstract0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9D155"/>
      </a:accent1>
      <a:accent2>
        <a:srgbClr val="568AD3"/>
      </a:accent2>
      <a:accent3>
        <a:srgbClr val="FFFFFF"/>
      </a:accent3>
      <a:accent4>
        <a:srgbClr val="79D155"/>
      </a:accent4>
      <a:accent5>
        <a:srgbClr val="568AD3"/>
      </a:accent5>
      <a:accent6>
        <a:srgbClr val="FFFFFF"/>
      </a:accent6>
      <a:hlink>
        <a:srgbClr val="FFFFFF"/>
      </a:hlink>
      <a:folHlink>
        <a:srgbClr val="FFFFFF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2947</Words>
  <Application>WPS Presentation</Application>
  <PresentationFormat>Widescreen</PresentationFormat>
  <Paragraphs>119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SimSun</vt:lpstr>
      <vt:lpstr>Wingdings</vt:lpstr>
      <vt:lpstr>Roboto</vt:lpstr>
      <vt:lpstr>Times New Roman</vt:lpstr>
      <vt:lpstr>Calibri</vt:lpstr>
      <vt:lpstr>Calibri Light</vt:lpstr>
      <vt:lpstr>Microsoft YaHei</vt:lpstr>
      <vt:lpstr>Arial Unicode MS</vt:lpstr>
      <vt:lpstr>BatangChe</vt:lpstr>
      <vt:lpstr>Segoe Print</vt:lpstr>
      <vt:lpstr>Office Theme</vt:lpstr>
      <vt:lpstr>Contents Slide Master</vt:lpstr>
      <vt:lpstr>Cover and End Slide Master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هبه ماجد فوزي كل�</cp:lastModifiedBy>
  <cp:revision>9</cp:revision>
  <dcterms:created xsi:type="dcterms:W3CDTF">2025-01-31T10:19:00Z</dcterms:created>
  <dcterms:modified xsi:type="dcterms:W3CDTF">2026-06-18T07:13:53Z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FD99B707DCEF46ABA11CF6BDB61D7021_11</vt:lpwstr>
  </property>
  <property fmtid="{D5CDD505-2E9C-101B-9397-08002B2CF9AE}" pid="3" name="KSOProductBuildVer">
    <vt:lpwstr>1033-12.2.0.23196</vt:lpwstr>
  </property>
</Properties>
</file>